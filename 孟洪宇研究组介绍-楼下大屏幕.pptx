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66" r:id="rId2"/>
  </p:sldIdLst>
  <p:sldSz cx="20159663" cy="17279938"/>
  <p:notesSz cx="6858000" cy="9144000"/>
  <p:custDataLst>
    <p:tags r:id="rId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DD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2328"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2CD94-3E71-4E7D-9610-500B8431708D}" type="datetimeFigureOut">
              <a:rPr lang="zh-CN" altLang="en-US" smtClean="0"/>
              <a:t>2026/8/25</a:t>
            </a:fld>
            <a:endParaRPr lang="zh-CN" altLang="en-US"/>
          </a:p>
        </p:txBody>
      </p:sp>
      <p:sp>
        <p:nvSpPr>
          <p:cNvPr id="4" name="幻灯片图像占位符 3"/>
          <p:cNvSpPr>
            <a:spLocks noGrp="1" noRot="1" noChangeAspect="1"/>
          </p:cNvSpPr>
          <p:nvPr>
            <p:ph type="sldImg" idx="2"/>
          </p:nvPr>
        </p:nvSpPr>
        <p:spPr>
          <a:xfrm>
            <a:off x="1628775" y="1143000"/>
            <a:ext cx="360045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B0BA2-95FC-4EB1-B186-414FA3E2CF8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11975" y="2827991"/>
            <a:ext cx="17135714" cy="6015978"/>
          </a:xfrm>
        </p:spPr>
        <p:txBody>
          <a:bodyPr anchor="b"/>
          <a:lstStyle>
            <a:lvl1pPr algn="ctr">
              <a:defRPr sz="13230"/>
            </a:lvl1pPr>
          </a:lstStyle>
          <a:p>
            <a:r>
              <a:rPr lang="zh-CN" altLang="en-US"/>
              <a:t>单击此处编辑母版标题样式</a:t>
            </a:r>
            <a:endParaRPr lang="en-US" dirty="0"/>
          </a:p>
        </p:txBody>
      </p:sp>
      <p:sp>
        <p:nvSpPr>
          <p:cNvPr id="3" name="Subtitle 2"/>
          <p:cNvSpPr>
            <a:spLocks noGrp="1"/>
          </p:cNvSpPr>
          <p:nvPr>
            <p:ph type="subTitle" idx="1"/>
          </p:nvPr>
        </p:nvSpPr>
        <p:spPr>
          <a:xfrm>
            <a:off x="2519958" y="9075969"/>
            <a:ext cx="15119747" cy="4171984"/>
          </a:xfrm>
        </p:spPr>
        <p:txBody>
          <a:bodyPr/>
          <a:lstStyle>
            <a:lvl1pPr marL="0" indent="0" algn="ctr">
              <a:buNone/>
              <a:defRPr sz="5290"/>
            </a:lvl1pPr>
            <a:lvl2pPr marL="1007745" indent="0" algn="ctr">
              <a:buNone/>
              <a:defRPr sz="4410"/>
            </a:lvl2pPr>
            <a:lvl3pPr marL="2016125" indent="0" algn="ctr">
              <a:buNone/>
              <a:defRPr sz="3970"/>
            </a:lvl3pPr>
            <a:lvl4pPr marL="3023870" indent="0" algn="ctr">
              <a:buNone/>
              <a:defRPr sz="3530"/>
            </a:lvl4pPr>
            <a:lvl5pPr marL="4032250" indent="0" algn="ctr">
              <a:buNone/>
              <a:defRPr sz="3530"/>
            </a:lvl5pPr>
            <a:lvl6pPr marL="5039995" indent="0" algn="ctr">
              <a:buNone/>
              <a:defRPr sz="3530"/>
            </a:lvl6pPr>
            <a:lvl7pPr marL="6047740" indent="0" algn="ctr">
              <a:buNone/>
              <a:defRPr sz="3530"/>
            </a:lvl7pPr>
            <a:lvl8pPr marL="7056120" indent="0" algn="ctr">
              <a:buNone/>
              <a:defRPr sz="3530"/>
            </a:lvl8pPr>
            <a:lvl9pPr marL="8063865" indent="0" algn="ctr">
              <a:buNone/>
              <a:defRPr sz="353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375478" y="4307990"/>
            <a:ext cx="17387709" cy="7187973"/>
          </a:xfrm>
        </p:spPr>
        <p:txBody>
          <a:bodyPr anchor="b"/>
          <a:lstStyle>
            <a:lvl1pPr>
              <a:defRPr sz="13230"/>
            </a:lvl1pPr>
          </a:lstStyle>
          <a:p>
            <a:r>
              <a:rPr lang="zh-CN" altLang="en-US"/>
              <a:t>单击此处编辑母版标题样式</a:t>
            </a:r>
            <a:endParaRPr lang="en-US" dirty="0"/>
          </a:p>
        </p:txBody>
      </p:sp>
      <p:sp>
        <p:nvSpPr>
          <p:cNvPr id="3" name="Text Placeholder 2"/>
          <p:cNvSpPr>
            <a:spLocks noGrp="1"/>
          </p:cNvSpPr>
          <p:nvPr>
            <p:ph type="body" idx="1"/>
          </p:nvPr>
        </p:nvSpPr>
        <p:spPr>
          <a:xfrm>
            <a:off x="1375478" y="11563964"/>
            <a:ext cx="17387709" cy="3779985"/>
          </a:xfrm>
        </p:spPr>
        <p:txBody>
          <a:bodyPr/>
          <a:lstStyle>
            <a:lvl1pPr marL="0" indent="0">
              <a:buNone/>
              <a:defRPr sz="5290">
                <a:solidFill>
                  <a:schemeClr val="tx1"/>
                </a:solidFill>
              </a:defRPr>
            </a:lvl1pPr>
            <a:lvl2pPr marL="1007745" indent="0">
              <a:buNone/>
              <a:defRPr sz="4410">
                <a:solidFill>
                  <a:schemeClr val="tx1">
                    <a:tint val="75000"/>
                  </a:schemeClr>
                </a:solidFill>
              </a:defRPr>
            </a:lvl2pPr>
            <a:lvl3pPr marL="2016125" indent="0">
              <a:buNone/>
              <a:defRPr sz="3970">
                <a:solidFill>
                  <a:schemeClr val="tx1">
                    <a:tint val="75000"/>
                  </a:schemeClr>
                </a:solidFill>
              </a:defRPr>
            </a:lvl3pPr>
            <a:lvl4pPr marL="3023870" indent="0">
              <a:buNone/>
              <a:defRPr sz="3530">
                <a:solidFill>
                  <a:schemeClr val="tx1">
                    <a:tint val="75000"/>
                  </a:schemeClr>
                </a:solidFill>
              </a:defRPr>
            </a:lvl4pPr>
            <a:lvl5pPr marL="4032250" indent="0">
              <a:buNone/>
              <a:defRPr sz="3530">
                <a:solidFill>
                  <a:schemeClr val="tx1">
                    <a:tint val="75000"/>
                  </a:schemeClr>
                </a:solidFill>
              </a:defRPr>
            </a:lvl5pPr>
            <a:lvl6pPr marL="5039995" indent="0">
              <a:buNone/>
              <a:defRPr sz="3530">
                <a:solidFill>
                  <a:schemeClr val="tx1">
                    <a:tint val="75000"/>
                  </a:schemeClr>
                </a:solidFill>
              </a:defRPr>
            </a:lvl6pPr>
            <a:lvl7pPr marL="6047740" indent="0">
              <a:buNone/>
              <a:defRPr sz="3530">
                <a:solidFill>
                  <a:schemeClr val="tx1">
                    <a:tint val="75000"/>
                  </a:schemeClr>
                </a:solidFill>
              </a:defRPr>
            </a:lvl7pPr>
            <a:lvl8pPr marL="7056120" indent="0">
              <a:buNone/>
              <a:defRPr sz="3530">
                <a:solidFill>
                  <a:schemeClr val="tx1">
                    <a:tint val="75000"/>
                  </a:schemeClr>
                </a:solidFill>
              </a:defRPr>
            </a:lvl8pPr>
            <a:lvl9pPr marL="8063865" indent="0">
              <a:buNone/>
              <a:defRPr sz="353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385977" y="4599983"/>
            <a:ext cx="8567857" cy="109639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10205829" y="4599983"/>
            <a:ext cx="8567857" cy="109639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88603" y="920001"/>
            <a:ext cx="17387709" cy="333998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88605" y="4235986"/>
            <a:ext cx="8528481" cy="2075991"/>
          </a:xfrm>
        </p:spPr>
        <p:txBody>
          <a:bodyPr anchor="b"/>
          <a:lstStyle>
            <a:lvl1pPr marL="0" indent="0">
              <a:buNone/>
              <a:defRPr sz="5290" b="1"/>
            </a:lvl1pPr>
            <a:lvl2pPr marL="1007745" indent="0">
              <a:buNone/>
              <a:defRPr sz="4410" b="1"/>
            </a:lvl2pPr>
            <a:lvl3pPr marL="2016125" indent="0">
              <a:buNone/>
              <a:defRPr sz="3970" b="1"/>
            </a:lvl3pPr>
            <a:lvl4pPr marL="3023870" indent="0">
              <a:buNone/>
              <a:defRPr sz="3530" b="1"/>
            </a:lvl4pPr>
            <a:lvl5pPr marL="4032250" indent="0">
              <a:buNone/>
              <a:defRPr sz="3530" b="1"/>
            </a:lvl5pPr>
            <a:lvl6pPr marL="5039995" indent="0">
              <a:buNone/>
              <a:defRPr sz="3530" b="1"/>
            </a:lvl6pPr>
            <a:lvl7pPr marL="6047740" indent="0">
              <a:buNone/>
              <a:defRPr sz="3530" b="1"/>
            </a:lvl7pPr>
            <a:lvl8pPr marL="7056120" indent="0">
              <a:buNone/>
              <a:defRPr sz="3530" b="1"/>
            </a:lvl8pPr>
            <a:lvl9pPr marL="8063865" indent="0">
              <a:buNone/>
              <a:defRPr sz="3530" b="1"/>
            </a:lvl9pPr>
          </a:lstStyle>
          <a:p>
            <a:pPr lvl="0"/>
            <a:r>
              <a:rPr lang="zh-CN" altLang="en-US"/>
              <a:t>单击此处编辑母版文本样式</a:t>
            </a:r>
          </a:p>
        </p:txBody>
      </p:sp>
      <p:sp>
        <p:nvSpPr>
          <p:cNvPr id="4" name="Content Placeholder 3"/>
          <p:cNvSpPr>
            <a:spLocks noGrp="1"/>
          </p:cNvSpPr>
          <p:nvPr>
            <p:ph sz="half" idx="2"/>
          </p:nvPr>
        </p:nvSpPr>
        <p:spPr>
          <a:xfrm>
            <a:off x="1388605" y="6311977"/>
            <a:ext cx="8528481" cy="9283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10205830" y="4235986"/>
            <a:ext cx="8570483" cy="2075991"/>
          </a:xfrm>
        </p:spPr>
        <p:txBody>
          <a:bodyPr anchor="b"/>
          <a:lstStyle>
            <a:lvl1pPr marL="0" indent="0">
              <a:buNone/>
              <a:defRPr sz="5290" b="1"/>
            </a:lvl1pPr>
            <a:lvl2pPr marL="1007745" indent="0">
              <a:buNone/>
              <a:defRPr sz="4410" b="1"/>
            </a:lvl2pPr>
            <a:lvl3pPr marL="2016125" indent="0">
              <a:buNone/>
              <a:defRPr sz="3970" b="1"/>
            </a:lvl3pPr>
            <a:lvl4pPr marL="3023870" indent="0">
              <a:buNone/>
              <a:defRPr sz="3530" b="1"/>
            </a:lvl4pPr>
            <a:lvl5pPr marL="4032250" indent="0">
              <a:buNone/>
              <a:defRPr sz="3530" b="1"/>
            </a:lvl5pPr>
            <a:lvl6pPr marL="5039995" indent="0">
              <a:buNone/>
              <a:defRPr sz="3530" b="1"/>
            </a:lvl6pPr>
            <a:lvl7pPr marL="6047740" indent="0">
              <a:buNone/>
              <a:defRPr sz="3530" b="1"/>
            </a:lvl7pPr>
            <a:lvl8pPr marL="7056120" indent="0">
              <a:buNone/>
              <a:defRPr sz="3530" b="1"/>
            </a:lvl8pPr>
            <a:lvl9pPr marL="8063865" indent="0">
              <a:buNone/>
              <a:defRPr sz="3530" b="1"/>
            </a:lvl9pPr>
          </a:lstStyle>
          <a:p>
            <a:pPr lvl="0"/>
            <a:r>
              <a:rPr lang="zh-CN" altLang="en-US"/>
              <a:t>单击此处编辑母版文本样式</a:t>
            </a:r>
          </a:p>
        </p:txBody>
      </p:sp>
      <p:sp>
        <p:nvSpPr>
          <p:cNvPr id="6" name="Content Placeholder 5"/>
          <p:cNvSpPr>
            <a:spLocks noGrp="1"/>
          </p:cNvSpPr>
          <p:nvPr>
            <p:ph sz="quarter" idx="4"/>
          </p:nvPr>
        </p:nvSpPr>
        <p:spPr>
          <a:xfrm>
            <a:off x="10205830" y="6311977"/>
            <a:ext cx="8570483" cy="9283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388603" y="1151996"/>
            <a:ext cx="6502016" cy="4031986"/>
          </a:xfrm>
        </p:spPr>
        <p:txBody>
          <a:bodyPr anchor="b"/>
          <a:lstStyle>
            <a:lvl1pPr>
              <a:defRPr sz="7055"/>
            </a:lvl1pPr>
          </a:lstStyle>
          <a:p>
            <a:r>
              <a:rPr lang="zh-CN" altLang="en-US"/>
              <a:t>单击此处编辑母版标题样式</a:t>
            </a:r>
            <a:endParaRPr lang="en-US" dirty="0"/>
          </a:p>
        </p:txBody>
      </p:sp>
      <p:sp>
        <p:nvSpPr>
          <p:cNvPr id="3" name="Content Placeholder 2"/>
          <p:cNvSpPr>
            <a:spLocks noGrp="1"/>
          </p:cNvSpPr>
          <p:nvPr>
            <p:ph idx="1"/>
          </p:nvPr>
        </p:nvSpPr>
        <p:spPr>
          <a:xfrm>
            <a:off x="8570483" y="2487995"/>
            <a:ext cx="10205829" cy="12279956"/>
          </a:xfrm>
        </p:spPr>
        <p:txBody>
          <a:bodyPr/>
          <a:lstStyle>
            <a:lvl1pPr>
              <a:defRPr sz="7055"/>
            </a:lvl1pPr>
            <a:lvl2pPr>
              <a:defRPr sz="6175"/>
            </a:lvl2pPr>
            <a:lvl3pPr>
              <a:defRPr sz="5290"/>
            </a:lvl3pPr>
            <a:lvl4pPr>
              <a:defRPr sz="4410"/>
            </a:lvl4pPr>
            <a:lvl5pPr>
              <a:defRPr sz="4410"/>
            </a:lvl5pPr>
            <a:lvl6pPr>
              <a:defRPr sz="4410"/>
            </a:lvl6pPr>
            <a:lvl7pPr>
              <a:defRPr sz="4410"/>
            </a:lvl7pPr>
            <a:lvl8pPr>
              <a:defRPr sz="4410"/>
            </a:lvl8pPr>
            <a:lvl9pPr>
              <a:defRPr sz="441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388603" y="5183981"/>
            <a:ext cx="6502016" cy="9603967"/>
          </a:xfrm>
        </p:spPr>
        <p:txBody>
          <a:bodyPr/>
          <a:lstStyle>
            <a:lvl1pPr marL="0" indent="0">
              <a:buNone/>
              <a:defRPr sz="3530"/>
            </a:lvl1pPr>
            <a:lvl2pPr marL="1007745" indent="0">
              <a:buNone/>
              <a:defRPr sz="3085"/>
            </a:lvl2pPr>
            <a:lvl3pPr marL="2016125" indent="0">
              <a:buNone/>
              <a:defRPr sz="2645"/>
            </a:lvl3pPr>
            <a:lvl4pPr marL="3023870" indent="0">
              <a:buNone/>
              <a:defRPr sz="2205"/>
            </a:lvl4pPr>
            <a:lvl5pPr marL="4032250" indent="0">
              <a:buNone/>
              <a:defRPr sz="2205"/>
            </a:lvl5pPr>
            <a:lvl6pPr marL="5039995" indent="0">
              <a:buNone/>
              <a:defRPr sz="2205"/>
            </a:lvl6pPr>
            <a:lvl7pPr marL="6047740" indent="0">
              <a:buNone/>
              <a:defRPr sz="2205"/>
            </a:lvl7pPr>
            <a:lvl8pPr marL="7056120" indent="0">
              <a:buNone/>
              <a:defRPr sz="2205"/>
            </a:lvl8pPr>
            <a:lvl9pPr marL="8063865" indent="0">
              <a:buNone/>
              <a:defRPr sz="220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388603" y="1151996"/>
            <a:ext cx="6502016" cy="4031986"/>
          </a:xfrm>
        </p:spPr>
        <p:txBody>
          <a:bodyPr anchor="b"/>
          <a:lstStyle>
            <a:lvl1pPr>
              <a:defRPr sz="705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570483" y="2487995"/>
            <a:ext cx="10205829" cy="12279956"/>
          </a:xfrm>
        </p:spPr>
        <p:txBody>
          <a:bodyPr anchor="t"/>
          <a:lstStyle>
            <a:lvl1pPr marL="0" indent="0">
              <a:buNone/>
              <a:defRPr sz="7055"/>
            </a:lvl1pPr>
            <a:lvl2pPr marL="1007745" indent="0">
              <a:buNone/>
              <a:defRPr sz="6175"/>
            </a:lvl2pPr>
            <a:lvl3pPr marL="2016125" indent="0">
              <a:buNone/>
              <a:defRPr sz="5290"/>
            </a:lvl3pPr>
            <a:lvl4pPr marL="3023870" indent="0">
              <a:buNone/>
              <a:defRPr sz="4410"/>
            </a:lvl4pPr>
            <a:lvl5pPr marL="4032250" indent="0">
              <a:buNone/>
              <a:defRPr sz="4410"/>
            </a:lvl5pPr>
            <a:lvl6pPr marL="5039995" indent="0">
              <a:buNone/>
              <a:defRPr sz="4410"/>
            </a:lvl6pPr>
            <a:lvl7pPr marL="6047740" indent="0">
              <a:buNone/>
              <a:defRPr sz="4410"/>
            </a:lvl7pPr>
            <a:lvl8pPr marL="7056120" indent="0">
              <a:buNone/>
              <a:defRPr sz="4410"/>
            </a:lvl8pPr>
            <a:lvl9pPr marL="8063865" indent="0">
              <a:buNone/>
              <a:defRPr sz="4410"/>
            </a:lvl9pPr>
          </a:lstStyle>
          <a:p>
            <a:r>
              <a:rPr lang="zh-CN" altLang="en-US"/>
              <a:t>单击图标添加图片</a:t>
            </a:r>
            <a:endParaRPr lang="en-US" dirty="0"/>
          </a:p>
        </p:txBody>
      </p:sp>
      <p:sp>
        <p:nvSpPr>
          <p:cNvPr id="4" name="Text Placeholder 3"/>
          <p:cNvSpPr>
            <a:spLocks noGrp="1"/>
          </p:cNvSpPr>
          <p:nvPr>
            <p:ph type="body" sz="half" idx="2"/>
          </p:nvPr>
        </p:nvSpPr>
        <p:spPr>
          <a:xfrm>
            <a:off x="1388603" y="5183981"/>
            <a:ext cx="6502016" cy="9603967"/>
          </a:xfrm>
        </p:spPr>
        <p:txBody>
          <a:bodyPr/>
          <a:lstStyle>
            <a:lvl1pPr marL="0" indent="0">
              <a:buNone/>
              <a:defRPr sz="3530"/>
            </a:lvl1pPr>
            <a:lvl2pPr marL="1007745" indent="0">
              <a:buNone/>
              <a:defRPr sz="3085"/>
            </a:lvl2pPr>
            <a:lvl3pPr marL="2016125" indent="0">
              <a:buNone/>
              <a:defRPr sz="2645"/>
            </a:lvl3pPr>
            <a:lvl4pPr marL="3023870" indent="0">
              <a:buNone/>
              <a:defRPr sz="2205"/>
            </a:lvl4pPr>
            <a:lvl5pPr marL="4032250" indent="0">
              <a:buNone/>
              <a:defRPr sz="2205"/>
            </a:lvl5pPr>
            <a:lvl6pPr marL="5039995" indent="0">
              <a:buNone/>
              <a:defRPr sz="2205"/>
            </a:lvl6pPr>
            <a:lvl7pPr marL="6047740" indent="0">
              <a:buNone/>
              <a:defRPr sz="2205"/>
            </a:lvl7pPr>
            <a:lvl8pPr marL="7056120" indent="0">
              <a:buNone/>
              <a:defRPr sz="2205"/>
            </a:lvl8pPr>
            <a:lvl9pPr marL="8063865" indent="0">
              <a:buNone/>
              <a:defRPr sz="220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426760" y="919997"/>
            <a:ext cx="4346927" cy="1464394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85978" y="919997"/>
            <a:ext cx="12788786" cy="1464394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4AF4154-0B42-4159-AC08-F66EC201C7F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5977" y="920001"/>
            <a:ext cx="17387709" cy="3339989"/>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85977" y="4599983"/>
            <a:ext cx="17387709" cy="109639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385977" y="16015946"/>
            <a:ext cx="4535924" cy="919997"/>
          </a:xfrm>
          <a:prstGeom prst="rect">
            <a:avLst/>
          </a:prstGeom>
        </p:spPr>
        <p:txBody>
          <a:bodyPr vert="horz" lIns="91440" tIns="45720" rIns="91440" bIns="45720" rtlCol="0" anchor="ctr"/>
          <a:lstStyle>
            <a:lvl1pPr algn="l">
              <a:defRPr sz="2645">
                <a:solidFill>
                  <a:schemeClr val="tx1">
                    <a:tint val="75000"/>
                  </a:schemeClr>
                </a:solidFill>
              </a:defRPr>
            </a:lvl1pPr>
          </a:lstStyle>
          <a:p>
            <a:fld id="{3B34DA10-C531-4343-8869-C44E5ECF6C27}" type="datetimeFigureOut">
              <a:rPr lang="zh-CN" altLang="en-US" smtClean="0"/>
              <a:t>2026/8/25</a:t>
            </a:fld>
            <a:endParaRPr lang="zh-CN" altLang="en-US"/>
          </a:p>
        </p:txBody>
      </p:sp>
      <p:sp>
        <p:nvSpPr>
          <p:cNvPr id="5" name="Footer Placeholder 4"/>
          <p:cNvSpPr>
            <a:spLocks noGrp="1"/>
          </p:cNvSpPr>
          <p:nvPr>
            <p:ph type="ftr" sz="quarter" idx="3"/>
          </p:nvPr>
        </p:nvSpPr>
        <p:spPr>
          <a:xfrm>
            <a:off x="6677889" y="16015946"/>
            <a:ext cx="6803886" cy="919997"/>
          </a:xfrm>
          <a:prstGeom prst="rect">
            <a:avLst/>
          </a:prstGeom>
        </p:spPr>
        <p:txBody>
          <a:bodyPr vert="horz" lIns="91440" tIns="45720" rIns="91440" bIns="45720" rtlCol="0" anchor="ctr"/>
          <a:lstStyle>
            <a:lvl1pPr algn="ctr">
              <a:defRPr sz="264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4237762" y="16015946"/>
            <a:ext cx="4535924" cy="919997"/>
          </a:xfrm>
          <a:prstGeom prst="rect">
            <a:avLst/>
          </a:prstGeom>
        </p:spPr>
        <p:txBody>
          <a:bodyPr vert="horz" lIns="91440" tIns="45720" rIns="91440" bIns="45720" rtlCol="0" anchor="ctr"/>
          <a:lstStyle>
            <a:lvl1pPr algn="r">
              <a:defRPr sz="2645">
                <a:solidFill>
                  <a:schemeClr val="tx1">
                    <a:tint val="75000"/>
                  </a:schemeClr>
                </a:solidFill>
              </a:defRPr>
            </a:lvl1pPr>
          </a:lstStyle>
          <a:p>
            <a:fld id="{D4AF4154-0B42-4159-AC08-F66EC201C7F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016125" rtl="0" eaLnBrk="1" latinLnBrk="0" hangingPunct="1">
        <a:lnSpc>
          <a:spcPct val="90000"/>
        </a:lnSpc>
        <a:spcBef>
          <a:spcPct val="0"/>
        </a:spcBef>
        <a:buNone/>
        <a:defRPr sz="9700" kern="1200">
          <a:solidFill>
            <a:schemeClr val="tx1"/>
          </a:solidFill>
          <a:latin typeface="+mj-lt"/>
          <a:ea typeface="+mj-ea"/>
          <a:cs typeface="+mj-cs"/>
        </a:defRPr>
      </a:lvl1pPr>
    </p:titleStyle>
    <p:bodyStyle>
      <a:lvl1pPr marL="504190" indent="-504190" algn="l" defTabSz="2016125" rtl="0" eaLnBrk="1" latinLnBrk="0" hangingPunct="1">
        <a:lnSpc>
          <a:spcPct val="90000"/>
        </a:lnSpc>
        <a:spcBef>
          <a:spcPts val="2205"/>
        </a:spcBef>
        <a:buFont typeface="Arial" panose="020B0604020202020204" pitchFamily="34" charset="0"/>
        <a:buChar char="•"/>
        <a:defRPr sz="6175" kern="1200">
          <a:solidFill>
            <a:schemeClr val="tx1"/>
          </a:solidFill>
          <a:latin typeface="+mn-lt"/>
          <a:ea typeface="+mn-ea"/>
          <a:cs typeface="+mn-cs"/>
        </a:defRPr>
      </a:lvl1pPr>
      <a:lvl2pPr marL="1511935" indent="-504190" algn="l" defTabSz="2016125" rtl="0" eaLnBrk="1" latinLnBrk="0" hangingPunct="1">
        <a:lnSpc>
          <a:spcPct val="90000"/>
        </a:lnSpc>
        <a:spcBef>
          <a:spcPts val="1100"/>
        </a:spcBef>
        <a:buFont typeface="Arial" panose="020B0604020202020204" pitchFamily="34" charset="0"/>
        <a:buChar char="•"/>
        <a:defRPr sz="5290" kern="1200">
          <a:solidFill>
            <a:schemeClr val="tx1"/>
          </a:solidFill>
          <a:latin typeface="+mn-lt"/>
          <a:ea typeface="+mn-ea"/>
          <a:cs typeface="+mn-cs"/>
        </a:defRPr>
      </a:lvl2pPr>
      <a:lvl3pPr marL="2519680" indent="-504190" algn="l" defTabSz="2016125" rtl="0" eaLnBrk="1" latinLnBrk="0" hangingPunct="1">
        <a:lnSpc>
          <a:spcPct val="90000"/>
        </a:lnSpc>
        <a:spcBef>
          <a:spcPts val="1100"/>
        </a:spcBef>
        <a:buFont typeface="Arial" panose="020B0604020202020204" pitchFamily="34" charset="0"/>
        <a:buChar char="•"/>
        <a:defRPr sz="4410" kern="1200">
          <a:solidFill>
            <a:schemeClr val="tx1"/>
          </a:solidFill>
          <a:latin typeface="+mn-lt"/>
          <a:ea typeface="+mn-ea"/>
          <a:cs typeface="+mn-cs"/>
        </a:defRPr>
      </a:lvl3pPr>
      <a:lvl4pPr marL="3528060"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4pPr>
      <a:lvl5pPr marL="4535805"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5pPr>
      <a:lvl6pPr marL="5544185"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6pPr>
      <a:lvl7pPr marL="6551930"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7pPr>
      <a:lvl8pPr marL="7559675"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8pPr>
      <a:lvl9pPr marL="8568055" indent="-504190" algn="l" defTabSz="2016125" rtl="0" eaLnBrk="1" latinLnBrk="0" hangingPunct="1">
        <a:lnSpc>
          <a:spcPct val="90000"/>
        </a:lnSpc>
        <a:spcBef>
          <a:spcPts val="1100"/>
        </a:spcBef>
        <a:buFont typeface="Arial" panose="020B0604020202020204" pitchFamily="34" charset="0"/>
        <a:buChar char="•"/>
        <a:defRPr sz="3970" kern="1200">
          <a:solidFill>
            <a:schemeClr val="tx1"/>
          </a:solidFill>
          <a:latin typeface="+mn-lt"/>
          <a:ea typeface="+mn-ea"/>
          <a:cs typeface="+mn-cs"/>
        </a:defRPr>
      </a:lvl9pPr>
    </p:bodyStyle>
    <p:otherStyle>
      <a:defPPr>
        <a:defRPr lang="en-US"/>
      </a:defPPr>
      <a:lvl1pPr marL="0" algn="l" defTabSz="2016125" rtl="0" eaLnBrk="1" latinLnBrk="0" hangingPunct="1">
        <a:defRPr sz="3970" kern="1200">
          <a:solidFill>
            <a:schemeClr val="tx1"/>
          </a:solidFill>
          <a:latin typeface="+mn-lt"/>
          <a:ea typeface="+mn-ea"/>
          <a:cs typeface="+mn-cs"/>
        </a:defRPr>
      </a:lvl1pPr>
      <a:lvl2pPr marL="1007745" algn="l" defTabSz="2016125" rtl="0" eaLnBrk="1" latinLnBrk="0" hangingPunct="1">
        <a:defRPr sz="3970" kern="1200">
          <a:solidFill>
            <a:schemeClr val="tx1"/>
          </a:solidFill>
          <a:latin typeface="+mn-lt"/>
          <a:ea typeface="+mn-ea"/>
          <a:cs typeface="+mn-cs"/>
        </a:defRPr>
      </a:lvl2pPr>
      <a:lvl3pPr marL="2016125" algn="l" defTabSz="2016125" rtl="0" eaLnBrk="1" latinLnBrk="0" hangingPunct="1">
        <a:defRPr sz="3970" kern="1200">
          <a:solidFill>
            <a:schemeClr val="tx1"/>
          </a:solidFill>
          <a:latin typeface="+mn-lt"/>
          <a:ea typeface="+mn-ea"/>
          <a:cs typeface="+mn-cs"/>
        </a:defRPr>
      </a:lvl3pPr>
      <a:lvl4pPr marL="3023870" algn="l" defTabSz="2016125" rtl="0" eaLnBrk="1" latinLnBrk="0" hangingPunct="1">
        <a:defRPr sz="3970" kern="1200">
          <a:solidFill>
            <a:schemeClr val="tx1"/>
          </a:solidFill>
          <a:latin typeface="+mn-lt"/>
          <a:ea typeface="+mn-ea"/>
          <a:cs typeface="+mn-cs"/>
        </a:defRPr>
      </a:lvl4pPr>
      <a:lvl5pPr marL="4032250" algn="l" defTabSz="2016125" rtl="0" eaLnBrk="1" latinLnBrk="0" hangingPunct="1">
        <a:defRPr sz="3970" kern="1200">
          <a:solidFill>
            <a:schemeClr val="tx1"/>
          </a:solidFill>
          <a:latin typeface="+mn-lt"/>
          <a:ea typeface="+mn-ea"/>
          <a:cs typeface="+mn-cs"/>
        </a:defRPr>
      </a:lvl5pPr>
      <a:lvl6pPr marL="5039995" algn="l" defTabSz="2016125" rtl="0" eaLnBrk="1" latinLnBrk="0" hangingPunct="1">
        <a:defRPr sz="3970" kern="1200">
          <a:solidFill>
            <a:schemeClr val="tx1"/>
          </a:solidFill>
          <a:latin typeface="+mn-lt"/>
          <a:ea typeface="+mn-ea"/>
          <a:cs typeface="+mn-cs"/>
        </a:defRPr>
      </a:lvl6pPr>
      <a:lvl7pPr marL="6047740" algn="l" defTabSz="2016125" rtl="0" eaLnBrk="1" latinLnBrk="0" hangingPunct="1">
        <a:defRPr sz="3970" kern="1200">
          <a:solidFill>
            <a:schemeClr val="tx1"/>
          </a:solidFill>
          <a:latin typeface="+mn-lt"/>
          <a:ea typeface="+mn-ea"/>
          <a:cs typeface="+mn-cs"/>
        </a:defRPr>
      </a:lvl7pPr>
      <a:lvl8pPr marL="7056120" algn="l" defTabSz="2016125" rtl="0" eaLnBrk="1" latinLnBrk="0" hangingPunct="1">
        <a:defRPr sz="3970" kern="1200">
          <a:solidFill>
            <a:schemeClr val="tx1"/>
          </a:solidFill>
          <a:latin typeface="+mn-lt"/>
          <a:ea typeface="+mn-ea"/>
          <a:cs typeface="+mn-cs"/>
        </a:defRPr>
      </a:lvl8pPr>
      <a:lvl9pPr marL="8063865" algn="l" defTabSz="2016125" rtl="0" eaLnBrk="1" latinLnBrk="0" hangingPunct="1">
        <a:defRPr sz="39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0.png"/><Relationship Id="rId18" Type="http://schemas.openxmlformats.org/officeDocument/2006/relationships/image" Target="../media/image14.png"/><Relationship Id="rId3" Type="http://schemas.openxmlformats.org/officeDocument/2006/relationships/image" Target="../media/image2.jpeg"/><Relationship Id="rId21" Type="http://schemas.openxmlformats.org/officeDocument/2006/relationships/image" Target="../media/image17.emf"/><Relationship Id="rId7" Type="http://schemas.openxmlformats.org/officeDocument/2006/relationships/image" Target="../media/image6.png"/><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png"/><Relationship Id="rId20"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hyperlink" Target="https://freepngimg.com/svg/color/00FF00/128505-gray-ear-illustration" TargetMode="External"/><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8.svg"/><Relationship Id="rId19"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hyperlink" Target="https://paintingvalley.com/simple-brain-drawing" TargetMode="External"/><Relationship Id="rId14" Type="http://schemas.openxmlformats.org/officeDocument/2006/relationships/hyperlink" Target="https://openclipart.org/detail/82327/thought-bubble-by-purz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2"/>
          <p:cNvPicPr>
            <a:picLocks noChangeAspect="1"/>
          </p:cNvPicPr>
          <p:nvPr/>
        </p:nvPicPr>
        <p:blipFill>
          <a:blip r:embed="rId2"/>
          <a:stretch>
            <a:fillRect/>
          </a:stretch>
        </p:blipFill>
        <p:spPr>
          <a:xfrm>
            <a:off x="-354778" y="-8221"/>
            <a:ext cx="6827520" cy="1641170"/>
          </a:xfrm>
          <a:prstGeom prst="rect">
            <a:avLst/>
          </a:prstGeom>
        </p:spPr>
      </p:pic>
      <p:sp>
        <p:nvSpPr>
          <p:cNvPr id="7" name="标题 1"/>
          <p:cNvSpPr txBox="1"/>
          <p:nvPr/>
        </p:nvSpPr>
        <p:spPr>
          <a:xfrm>
            <a:off x="6156751" y="1078896"/>
            <a:ext cx="8661464" cy="7511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400" b="1" dirty="0">
                <a:solidFill>
                  <a:srgbClr val="C00000"/>
                </a:solidFill>
                <a:latin typeface="STKaiti" panose="02010600040101010101" pitchFamily="2" charset="-122"/>
                <a:ea typeface="STKaiti" panose="02010600040101010101" pitchFamily="2" charset="-122"/>
              </a:rPr>
              <a:t>预测编码与认知系统课题组</a:t>
            </a:r>
          </a:p>
        </p:txBody>
      </p:sp>
      <p:sp>
        <p:nvSpPr>
          <p:cNvPr id="8" name="矩形 7"/>
          <p:cNvSpPr/>
          <p:nvPr/>
        </p:nvSpPr>
        <p:spPr>
          <a:xfrm>
            <a:off x="7199693" y="1926307"/>
            <a:ext cx="6814687" cy="523220"/>
          </a:xfrm>
          <a:prstGeom prst="rect">
            <a:avLst/>
          </a:prstGeom>
        </p:spPr>
        <p:txBody>
          <a:bodyPr wrap="none">
            <a:spAutoFit/>
          </a:bodyPr>
          <a:lstStyle/>
          <a:p>
            <a:pPr algn="ctr"/>
            <a:r>
              <a:rPr lang="en-US" altLang="zh-CN" sz="2800" b="1" dirty="0">
                <a:solidFill>
                  <a:srgbClr val="C00000"/>
                </a:solidFill>
                <a:latin typeface="STKaiti" panose="02010600040101010101" pitchFamily="2" charset="-122"/>
                <a:ea typeface="STKaiti" panose="02010600040101010101" pitchFamily="2" charset="-122"/>
                <a:cs typeface="Times New Roman" panose="02020603050405020304" pitchFamily="18" charset="0"/>
              </a:rPr>
              <a:t>Lab of Predictive Coding and Cognitive System</a:t>
            </a:r>
            <a:endParaRPr lang="zh-CN" altLang="en-US" sz="2800" b="1" dirty="0">
              <a:solidFill>
                <a:srgbClr val="C00000"/>
              </a:solidFill>
              <a:latin typeface="STKaiti" panose="02010600040101010101" pitchFamily="2" charset="-122"/>
              <a:ea typeface="STKaiti" panose="02010600040101010101" pitchFamily="2" charset="-122"/>
              <a:cs typeface="Times New Roman" panose="02020603050405020304" pitchFamily="18" charset="0"/>
            </a:endParaRPr>
          </a:p>
        </p:txBody>
      </p:sp>
      <p:sp>
        <p:nvSpPr>
          <p:cNvPr id="9" name="标题 1"/>
          <p:cNvSpPr txBox="1"/>
          <p:nvPr/>
        </p:nvSpPr>
        <p:spPr>
          <a:xfrm>
            <a:off x="3681472" y="2545818"/>
            <a:ext cx="4264152" cy="69113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3600" b="1" dirty="0">
                <a:solidFill>
                  <a:srgbClr val="0070C0"/>
                </a:solidFill>
                <a:latin typeface="STKaiti" panose="02010600040101010101" pitchFamily="2" charset="-122"/>
                <a:ea typeface="STKaiti" panose="02010600040101010101" pitchFamily="2" charset="-122"/>
              </a:rPr>
              <a:t>研究组长简介</a:t>
            </a:r>
          </a:p>
        </p:txBody>
      </p:sp>
      <p:sp>
        <p:nvSpPr>
          <p:cNvPr id="12" name="文本框 11"/>
          <p:cNvSpPr txBox="1"/>
          <p:nvPr/>
        </p:nvSpPr>
        <p:spPr>
          <a:xfrm>
            <a:off x="-247504" y="3279219"/>
            <a:ext cx="5079040" cy="521970"/>
          </a:xfrm>
          <a:prstGeom prst="rect">
            <a:avLst/>
          </a:prstGeom>
          <a:noFill/>
        </p:spPr>
        <p:txBody>
          <a:bodyPr wrap="square">
            <a:spAutoFit/>
          </a:bodyPr>
          <a:lstStyle/>
          <a:p>
            <a:pPr algn="ctr"/>
            <a:r>
              <a:rPr lang="zh-CN" altLang="en-US" sz="2800" b="1" dirty="0">
                <a:latin typeface="STKaiti" panose="02010600040101010101" pitchFamily="2" charset="-122"/>
                <a:ea typeface="STKaiti" panose="02010600040101010101" pitchFamily="2" charset="-122"/>
              </a:rPr>
              <a:t>孟洪宇博士 研究员</a:t>
            </a:r>
            <a:endParaRPr lang="en-US" altLang="zh-CN" sz="2800" b="1" dirty="0">
              <a:latin typeface="STKaiti" panose="02010600040101010101" pitchFamily="2" charset="-122"/>
              <a:ea typeface="STKaiti" panose="02010600040101010101" pitchFamily="2" charset="-122"/>
            </a:endParaRPr>
          </a:p>
        </p:txBody>
      </p:sp>
      <p:sp>
        <p:nvSpPr>
          <p:cNvPr id="14" name="文本框 13"/>
          <p:cNvSpPr txBox="1"/>
          <p:nvPr/>
        </p:nvSpPr>
        <p:spPr>
          <a:xfrm>
            <a:off x="4060053" y="3827097"/>
            <a:ext cx="5446768" cy="350865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altLang="zh-CN" sz="2400" dirty="0">
                <a:latin typeface="STKaiti" panose="02010600040101010101" pitchFamily="2" charset="-122"/>
                <a:ea typeface="STKaiti" panose="02010600040101010101" pitchFamily="2" charset="-122"/>
              </a:rPr>
              <a:t>2026/08-</a:t>
            </a:r>
            <a:r>
              <a:rPr lang="zh-CN" altLang="en-US" sz="2400" dirty="0">
                <a:latin typeface="STKaiti" panose="02010600040101010101" pitchFamily="2" charset="-122"/>
                <a:ea typeface="STKaiti" panose="02010600040101010101" pitchFamily="2" charset="-122"/>
              </a:rPr>
              <a:t>现在 </a:t>
            </a:r>
            <a:br>
              <a:rPr lang="en-US" altLang="zh-CN" sz="2400" dirty="0">
                <a:latin typeface="STKaiti" panose="02010600040101010101" pitchFamily="2" charset="-122"/>
                <a:ea typeface="STKaiti" panose="02010600040101010101" pitchFamily="2" charset="-122"/>
              </a:rPr>
            </a:br>
            <a:r>
              <a:rPr lang="zh-CN" altLang="en-US" sz="2400" dirty="0">
                <a:latin typeface="STKaiti" panose="02010600040101010101" pitchFamily="2" charset="-122"/>
                <a:ea typeface="STKaiti" panose="02010600040101010101" pitchFamily="2" charset="-122"/>
              </a:rPr>
              <a:t>广东省智能科学与技术研究院 研究员</a:t>
            </a:r>
            <a:endParaRPr lang="en-US" altLang="zh-CN" sz="2400" dirty="0">
              <a:latin typeface="STKaiti" panose="02010600040101010101" pitchFamily="2" charset="-122"/>
              <a:ea typeface="STKaiti" panose="02010600040101010101" pitchFamily="2" charset="-122"/>
            </a:endParaRPr>
          </a:p>
          <a:p>
            <a:pPr marL="285750" indent="-285750">
              <a:spcAft>
                <a:spcPts val="1200"/>
              </a:spcAft>
              <a:buFont typeface="Arial" panose="020B0604020202020204" pitchFamily="34" charset="0"/>
              <a:buChar char="•"/>
            </a:pPr>
            <a:r>
              <a:rPr lang="en-US" altLang="zh-CN" sz="2400" dirty="0">
                <a:latin typeface="STKaiti" panose="02010600040101010101" pitchFamily="2" charset="-122"/>
                <a:ea typeface="STKaiti" panose="02010600040101010101" pitchFamily="2" charset="-122"/>
              </a:rPr>
              <a:t>2019/10-2026/07 </a:t>
            </a:r>
            <a:br>
              <a:rPr lang="en-US" altLang="zh-CN" sz="2400" dirty="0">
                <a:latin typeface="STKaiti" panose="02010600040101010101" pitchFamily="2" charset="-122"/>
                <a:ea typeface="STKaiti" panose="02010600040101010101" pitchFamily="2" charset="-122"/>
              </a:rPr>
            </a:br>
            <a:r>
              <a:rPr lang="zh-CN" altLang="en-US" sz="2400" dirty="0">
                <a:latin typeface="STKaiti" panose="02010600040101010101" pitchFamily="2" charset="-122"/>
                <a:ea typeface="STKaiti" panose="02010600040101010101" pitchFamily="2" charset="-122"/>
              </a:rPr>
              <a:t>纽约大学神经科学中心 博士后</a:t>
            </a:r>
            <a:endParaRPr lang="en-US" altLang="zh-CN" sz="2400" dirty="0">
              <a:latin typeface="STKaiti" panose="02010600040101010101" pitchFamily="2" charset="-122"/>
              <a:ea typeface="STKaiti" panose="02010600040101010101" pitchFamily="2" charset="-122"/>
            </a:endParaRPr>
          </a:p>
          <a:p>
            <a:pPr marL="285750" indent="-285750">
              <a:spcAft>
                <a:spcPts val="1200"/>
              </a:spcAft>
              <a:buFont typeface="Arial" panose="020B0604020202020204" pitchFamily="34" charset="0"/>
              <a:buChar char="•"/>
            </a:pPr>
            <a:r>
              <a:rPr lang="en-US" altLang="zh-CN" sz="2400" dirty="0">
                <a:latin typeface="STKaiti" panose="02010600040101010101" pitchFamily="2" charset="-122"/>
                <a:ea typeface="STKaiti" panose="02010600040101010101" pitchFamily="2" charset="-122"/>
              </a:rPr>
              <a:t>2013/09-2020/03 </a:t>
            </a:r>
            <a:br>
              <a:rPr lang="en-US" altLang="zh-CN" sz="2400" dirty="0">
                <a:latin typeface="STKaiti" panose="02010600040101010101" pitchFamily="2" charset="-122"/>
                <a:ea typeface="STKaiti" panose="02010600040101010101" pitchFamily="2" charset="-122"/>
              </a:rPr>
            </a:br>
            <a:r>
              <a:rPr lang="zh-CN" altLang="en-US" sz="2400" dirty="0">
                <a:latin typeface="STKaiti" panose="02010600040101010101" pitchFamily="2" charset="-122"/>
                <a:ea typeface="STKaiti" panose="02010600040101010101" pitchFamily="2" charset="-122"/>
              </a:rPr>
              <a:t>美国西北大学 应用数学博士</a:t>
            </a:r>
            <a:endParaRPr lang="en-US" altLang="zh-CN" sz="2400" dirty="0">
              <a:latin typeface="STKaiti" panose="02010600040101010101" pitchFamily="2" charset="-122"/>
              <a:ea typeface="STKaiti" panose="02010600040101010101" pitchFamily="2" charset="-122"/>
            </a:endParaRPr>
          </a:p>
          <a:p>
            <a:pPr marL="285750" indent="-285750">
              <a:spcAft>
                <a:spcPts val="1200"/>
              </a:spcAft>
              <a:buFont typeface="Arial" panose="020B0604020202020204" pitchFamily="34" charset="0"/>
              <a:buChar char="•"/>
            </a:pPr>
            <a:r>
              <a:rPr lang="en-US" altLang="zh-CN" sz="2400" dirty="0">
                <a:latin typeface="STKaiti" panose="02010600040101010101" pitchFamily="2" charset="-122"/>
                <a:ea typeface="STKaiti" panose="02010600040101010101" pitchFamily="2" charset="-122"/>
              </a:rPr>
              <a:t>2009/09-2013/06 </a:t>
            </a:r>
            <a:br>
              <a:rPr lang="en-US" altLang="zh-CN" sz="2400" dirty="0">
                <a:latin typeface="STKaiti" panose="02010600040101010101" pitchFamily="2" charset="-122"/>
                <a:ea typeface="STKaiti" panose="02010600040101010101" pitchFamily="2" charset="-122"/>
              </a:rPr>
            </a:br>
            <a:r>
              <a:rPr lang="zh-CN" altLang="en-US" sz="2400" dirty="0">
                <a:latin typeface="STKaiti" panose="02010600040101010101" pitchFamily="2" charset="-122"/>
                <a:ea typeface="STKaiti" panose="02010600040101010101" pitchFamily="2" charset="-122"/>
              </a:rPr>
              <a:t>北京大学 应用数学学士</a:t>
            </a:r>
            <a:endParaRPr lang="en-US" altLang="zh-CN" sz="2400" dirty="0">
              <a:latin typeface="STKaiti" panose="02010600040101010101" pitchFamily="2" charset="-122"/>
              <a:ea typeface="STKaiti" panose="02010600040101010101" pitchFamily="2" charset="-122"/>
            </a:endParaRPr>
          </a:p>
        </p:txBody>
      </p:sp>
      <p:sp>
        <p:nvSpPr>
          <p:cNvPr id="15" name="标题 1"/>
          <p:cNvSpPr txBox="1"/>
          <p:nvPr/>
        </p:nvSpPr>
        <p:spPr>
          <a:xfrm>
            <a:off x="12589883" y="2545818"/>
            <a:ext cx="4264152" cy="69113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3600" b="1" dirty="0">
                <a:solidFill>
                  <a:srgbClr val="0070C0"/>
                </a:solidFill>
                <a:latin typeface="STKaiti" panose="02010600040101010101" pitchFamily="2" charset="-122"/>
                <a:ea typeface="STKaiti" panose="02010600040101010101" pitchFamily="2" charset="-122"/>
              </a:rPr>
              <a:t>研究兴趣与目标</a:t>
            </a:r>
          </a:p>
        </p:txBody>
      </p:sp>
      <p:sp>
        <p:nvSpPr>
          <p:cNvPr id="16" name="文本框 15"/>
          <p:cNvSpPr txBox="1"/>
          <p:nvPr/>
        </p:nvSpPr>
        <p:spPr>
          <a:xfrm>
            <a:off x="10351868" y="3602962"/>
            <a:ext cx="8932694" cy="4493538"/>
          </a:xfrm>
          <a:prstGeom prst="rect">
            <a:avLst/>
          </a:prstGeom>
          <a:noFill/>
        </p:spPr>
        <p:txBody>
          <a:bodyPr wrap="square" rtlCol="0">
            <a:spAutoFit/>
          </a:bodyPr>
          <a:lstStyle/>
          <a:p>
            <a:pPr algn="just"/>
            <a:r>
              <a:rPr lang="zh-CN" altLang="en-US" sz="2200" b="0" i="0" dirty="0">
                <a:solidFill>
                  <a:srgbClr val="25293D"/>
                </a:solidFill>
                <a:effectLst/>
                <a:latin typeface="STKaiti" panose="02010600040101010101" pitchFamily="2" charset="-122"/>
                <a:ea typeface="STKaiti" panose="02010600040101010101" pitchFamily="2" charset="-122"/>
              </a:rPr>
              <a:t>研究组（办公室：</a:t>
            </a:r>
            <a:r>
              <a:rPr lang="en-US" altLang="zh-CN" sz="2200" b="0" i="0" dirty="0">
                <a:solidFill>
                  <a:srgbClr val="25293D"/>
                </a:solidFill>
                <a:effectLst/>
                <a:latin typeface="STKaiti" panose="02010600040101010101" pitchFamily="2" charset="-122"/>
                <a:ea typeface="STKaiti" panose="02010600040101010101" pitchFamily="2" charset="-122"/>
              </a:rPr>
              <a:t>1811</a:t>
            </a:r>
            <a:r>
              <a:rPr lang="zh-CN" altLang="en-US" sz="2200" b="0" i="0" dirty="0">
                <a:solidFill>
                  <a:srgbClr val="25293D"/>
                </a:solidFill>
                <a:effectLst/>
                <a:latin typeface="STKaiti" panose="02010600040101010101" pitchFamily="2" charset="-122"/>
                <a:ea typeface="STKaiti" panose="02010600040101010101" pitchFamily="2" charset="-122"/>
              </a:rPr>
              <a:t>）聚焦预测编码的神经科学机制与类脑智能应用研究，以“解析大脑预测与误差计算机制，推动高效类脑智能算法落地”为核心目标。研究方向涵盖预测编码、神经动力学、脉冲神经网络及神经形态计算，旨在突破传统深度学习在生物可解释性、计算效率和能效方面的限制，构建融合脑科学机制与人工智能的新型计算框架。研究组依托智能院在类脑计算、类脑芯片及大规模神经网络方面的平台优势，研究跨脑区预测与误差计算机制，并将相关神经科学原理转化为可在脉冲神经网络和类脑芯片上实现的高效算法。</a:t>
            </a:r>
            <a:endParaRPr lang="en-US" altLang="zh-CN" sz="2200" b="0" i="0" dirty="0">
              <a:solidFill>
                <a:srgbClr val="25293D"/>
              </a:solidFill>
              <a:effectLst/>
              <a:latin typeface="STKaiti" panose="02010600040101010101" pitchFamily="2" charset="-122"/>
              <a:ea typeface="STKaiti" panose="02010600040101010101" pitchFamily="2" charset="-122"/>
            </a:endParaRPr>
          </a:p>
          <a:p>
            <a:pPr algn="just"/>
            <a:r>
              <a:rPr lang="zh-CN" altLang="en-US" sz="2200" b="1" i="0" dirty="0">
                <a:solidFill>
                  <a:srgbClr val="25293D"/>
                </a:solidFill>
                <a:effectLst/>
                <a:latin typeface="STKaiti" panose="02010600040101010101" pitchFamily="2" charset="-122"/>
                <a:ea typeface="STKaiti" panose="02010600040101010101" pitchFamily="2" charset="-122"/>
              </a:rPr>
              <a:t>研究目标</a:t>
            </a:r>
            <a:r>
              <a:rPr lang="zh-CN" altLang="en-US" sz="2200" b="0" i="0" dirty="0">
                <a:solidFill>
                  <a:srgbClr val="25293D"/>
                </a:solidFill>
                <a:effectLst/>
                <a:latin typeface="STKaiti" panose="02010600040101010101" pitchFamily="2" charset="-122"/>
                <a:ea typeface="STKaiti" panose="02010600040101010101" pitchFamily="2" charset="-122"/>
              </a:rPr>
              <a:t>：</a:t>
            </a:r>
            <a:r>
              <a:rPr lang="en-US" altLang="zh-CN" sz="2200" b="0" i="0" dirty="0">
                <a:solidFill>
                  <a:srgbClr val="25293D"/>
                </a:solidFill>
                <a:effectLst/>
                <a:latin typeface="STKaiti" panose="02010600040101010101" pitchFamily="2" charset="-122"/>
                <a:ea typeface="STKaiti" panose="02010600040101010101" pitchFamily="2" charset="-122"/>
              </a:rPr>
              <a:t>1</a:t>
            </a:r>
            <a:r>
              <a:rPr lang="zh-CN" altLang="en-US" sz="2200" b="0" i="0" dirty="0">
                <a:solidFill>
                  <a:srgbClr val="25293D"/>
                </a:solidFill>
                <a:effectLst/>
                <a:latin typeface="STKaiti" panose="02010600040101010101" pitchFamily="2" charset="-122"/>
                <a:ea typeface="STKaiti" panose="02010600040101010101" pitchFamily="2" charset="-122"/>
              </a:rPr>
              <a:t>）预测编码的神经科学机制：研究大脑如何形成和传递内部表征，以及预测误差如何在不同神经元类型、局部环路和跨脑区网络中产生和传播；</a:t>
            </a:r>
            <a:r>
              <a:rPr lang="en-US" altLang="zh-CN" sz="2200" b="0" i="0" dirty="0">
                <a:solidFill>
                  <a:srgbClr val="25293D"/>
                </a:solidFill>
                <a:effectLst/>
                <a:latin typeface="STKaiti" panose="02010600040101010101" pitchFamily="2" charset="-122"/>
                <a:ea typeface="STKaiti" panose="02010600040101010101" pitchFamily="2" charset="-122"/>
              </a:rPr>
              <a:t>2</a:t>
            </a:r>
            <a:r>
              <a:rPr lang="zh-CN" altLang="en-US" sz="2200" b="0" i="0" dirty="0">
                <a:solidFill>
                  <a:srgbClr val="25293D"/>
                </a:solidFill>
                <a:effectLst/>
                <a:latin typeface="STKaiti" panose="02010600040101010101" pitchFamily="2" charset="-122"/>
                <a:ea typeface="STKaiti" panose="02010600040101010101" pitchFamily="2" charset="-122"/>
              </a:rPr>
              <a:t>）预测编码与类脑智能：研究预测编码、局部学习规则与脉冲神经网络的融合，发展高效、低功耗的类脑算法，并推动其在类脑芯片和智能系统中的实现与应用。</a:t>
            </a:r>
          </a:p>
        </p:txBody>
      </p:sp>
      <p:sp>
        <p:nvSpPr>
          <p:cNvPr id="19" name="标题 1"/>
          <p:cNvSpPr txBox="1"/>
          <p:nvPr/>
        </p:nvSpPr>
        <p:spPr>
          <a:xfrm>
            <a:off x="1803756" y="8126397"/>
            <a:ext cx="4828694" cy="885780"/>
          </a:xfrm>
          <a:prstGeom prst="rect">
            <a:avLst/>
          </a:prstGeom>
        </p:spPr>
        <p:txBody>
          <a:bodyPr vert="horz" lIns="91440" tIns="45720" rIns="91440" bIns="45720" rtlCol="0" anchor="b">
            <a:no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3600" b="1" dirty="0">
                <a:solidFill>
                  <a:srgbClr val="0070C0"/>
                </a:solidFill>
                <a:latin typeface="STKaiti" panose="02010600040101010101" pitchFamily="2" charset="-122"/>
                <a:ea typeface="STKaiti" panose="02010600040101010101" pitchFamily="2" charset="-122"/>
              </a:rPr>
              <a:t>“意料之外”从何而来？</a:t>
            </a:r>
          </a:p>
        </p:txBody>
      </p:sp>
      <p:sp>
        <p:nvSpPr>
          <p:cNvPr id="25" name="标题 1"/>
          <p:cNvSpPr txBox="1"/>
          <p:nvPr/>
        </p:nvSpPr>
        <p:spPr>
          <a:xfrm>
            <a:off x="11833793" y="8320635"/>
            <a:ext cx="4264152" cy="69113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3600" b="1" dirty="0">
                <a:solidFill>
                  <a:srgbClr val="0070C0"/>
                </a:solidFill>
                <a:latin typeface="STKaiti" panose="02010600040101010101" pitchFamily="2" charset="-122"/>
                <a:ea typeface="STKaiti" panose="02010600040101010101" pitchFamily="2" charset="-122"/>
              </a:rPr>
              <a:t>神经科学机制</a:t>
            </a:r>
          </a:p>
        </p:txBody>
      </p:sp>
      <p:pic>
        <p:nvPicPr>
          <p:cNvPr id="3" name="Picture 2">
            <a:extLst>
              <a:ext uri="{FF2B5EF4-FFF2-40B4-BE49-F238E27FC236}">
                <a16:creationId xmlns:a16="http://schemas.microsoft.com/office/drawing/2014/main" id="{A62C9AC9-1B6D-17F4-F9E1-D8065706DF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9520" y="3843454"/>
            <a:ext cx="3224992" cy="4293066"/>
          </a:xfrm>
          <a:prstGeom prst="rect">
            <a:avLst/>
          </a:prstGeom>
        </p:spPr>
      </p:pic>
      <p:pic>
        <p:nvPicPr>
          <p:cNvPr id="5" name="Content Placeholder 4" descr="A collage of a dog and muffins">
            <a:extLst>
              <a:ext uri="{FF2B5EF4-FFF2-40B4-BE49-F238E27FC236}">
                <a16:creationId xmlns:a16="http://schemas.microsoft.com/office/drawing/2014/main" id="{222BB7ED-DCC9-E74C-3668-8BC28741EA80}"/>
              </a:ext>
            </a:extLst>
          </p:cNvPr>
          <p:cNvPicPr>
            <a:picLocks noChangeAspect="1"/>
          </p:cNvPicPr>
          <p:nvPr/>
        </p:nvPicPr>
        <p:blipFill>
          <a:blip r:embed="rId4">
            <a:extLst>
              <a:ext uri="{28A0092B-C50C-407E-A947-70E740481C1C}">
                <a14:useLocalDpi xmlns:a14="http://schemas.microsoft.com/office/drawing/2010/main" val="0"/>
              </a:ext>
            </a:extLst>
          </a:blip>
          <a:srcRect r="75049" b="75128"/>
          <a:stretch>
            <a:fillRect/>
          </a:stretch>
        </p:blipFill>
        <p:spPr>
          <a:xfrm>
            <a:off x="807245" y="9250324"/>
            <a:ext cx="1331661" cy="1338206"/>
          </a:xfrm>
          <a:prstGeom prst="rect">
            <a:avLst/>
          </a:prstGeom>
        </p:spPr>
      </p:pic>
      <p:pic>
        <p:nvPicPr>
          <p:cNvPr id="13" name="Content Placeholder 4" descr="A collage of a dog and muffins">
            <a:extLst>
              <a:ext uri="{FF2B5EF4-FFF2-40B4-BE49-F238E27FC236}">
                <a16:creationId xmlns:a16="http://schemas.microsoft.com/office/drawing/2014/main" id="{71098669-1376-952C-C7AB-5334CC5D2526}"/>
              </a:ext>
            </a:extLst>
          </p:cNvPr>
          <p:cNvPicPr>
            <a:picLocks noChangeAspect="1"/>
          </p:cNvPicPr>
          <p:nvPr/>
        </p:nvPicPr>
        <p:blipFill>
          <a:blip r:embed="rId4">
            <a:extLst>
              <a:ext uri="{28A0092B-C50C-407E-A947-70E740481C1C}">
                <a14:useLocalDpi xmlns:a14="http://schemas.microsoft.com/office/drawing/2010/main" val="0"/>
              </a:ext>
            </a:extLst>
          </a:blip>
          <a:srcRect l="75176" t="74879"/>
          <a:stretch>
            <a:fillRect/>
          </a:stretch>
        </p:blipFill>
        <p:spPr>
          <a:xfrm>
            <a:off x="2253237" y="9267259"/>
            <a:ext cx="1324890" cy="1351679"/>
          </a:xfrm>
          <a:prstGeom prst="rect">
            <a:avLst/>
          </a:prstGeom>
        </p:spPr>
      </p:pic>
      <p:pic>
        <p:nvPicPr>
          <p:cNvPr id="26" name="Content Placeholder 4" descr="A collage of a dog and muffins">
            <a:extLst>
              <a:ext uri="{FF2B5EF4-FFF2-40B4-BE49-F238E27FC236}">
                <a16:creationId xmlns:a16="http://schemas.microsoft.com/office/drawing/2014/main" id="{65DBAF72-6A74-D9BD-E688-9A4689BD70F2}"/>
              </a:ext>
            </a:extLst>
          </p:cNvPr>
          <p:cNvPicPr>
            <a:picLocks noChangeAspect="1"/>
          </p:cNvPicPr>
          <p:nvPr/>
        </p:nvPicPr>
        <p:blipFill>
          <a:blip r:embed="rId4">
            <a:extLst>
              <a:ext uri="{28A0092B-C50C-407E-A947-70E740481C1C}">
                <a14:useLocalDpi xmlns:a14="http://schemas.microsoft.com/office/drawing/2010/main" val="0"/>
              </a:ext>
            </a:extLst>
          </a:blip>
          <a:srcRect l="49901" r="25026" b="75030"/>
          <a:stretch>
            <a:fillRect/>
          </a:stretch>
        </p:blipFill>
        <p:spPr>
          <a:xfrm>
            <a:off x="3692458" y="9245271"/>
            <a:ext cx="1338160" cy="1343522"/>
          </a:xfrm>
          <a:prstGeom prst="rect">
            <a:avLst/>
          </a:prstGeom>
        </p:spPr>
      </p:pic>
      <p:pic>
        <p:nvPicPr>
          <p:cNvPr id="28" name="Content Placeholder 4" descr="A collage of a dog and muffins">
            <a:extLst>
              <a:ext uri="{FF2B5EF4-FFF2-40B4-BE49-F238E27FC236}">
                <a16:creationId xmlns:a16="http://schemas.microsoft.com/office/drawing/2014/main" id="{964ECBA5-D71E-E9E3-50B8-2A88A9FD05F9}"/>
              </a:ext>
            </a:extLst>
          </p:cNvPr>
          <p:cNvPicPr>
            <a:picLocks noChangeAspect="1"/>
          </p:cNvPicPr>
          <p:nvPr/>
        </p:nvPicPr>
        <p:blipFill>
          <a:blip r:embed="rId4">
            <a:extLst>
              <a:ext uri="{28A0092B-C50C-407E-A947-70E740481C1C}">
                <a14:useLocalDpi xmlns:a14="http://schemas.microsoft.com/office/drawing/2010/main" val="0"/>
              </a:ext>
            </a:extLst>
          </a:blip>
          <a:srcRect l="-608" t="25996" r="75326" b="49678"/>
          <a:stretch>
            <a:fillRect/>
          </a:stretch>
        </p:blipFill>
        <p:spPr>
          <a:xfrm>
            <a:off x="5144949" y="9275082"/>
            <a:ext cx="1373170" cy="1332028"/>
          </a:xfrm>
          <a:prstGeom prst="rect">
            <a:avLst/>
          </a:prstGeom>
        </p:spPr>
      </p:pic>
      <p:pic>
        <p:nvPicPr>
          <p:cNvPr id="30" name="Content Placeholder 4" descr="A collage of a dog and muffins">
            <a:extLst>
              <a:ext uri="{FF2B5EF4-FFF2-40B4-BE49-F238E27FC236}">
                <a16:creationId xmlns:a16="http://schemas.microsoft.com/office/drawing/2014/main" id="{0834EC7C-0B27-20B4-C421-C24155819BAE}"/>
              </a:ext>
            </a:extLst>
          </p:cNvPr>
          <p:cNvPicPr>
            <a:picLocks noChangeAspect="1"/>
          </p:cNvPicPr>
          <p:nvPr/>
        </p:nvPicPr>
        <p:blipFill>
          <a:blip r:embed="rId4">
            <a:extLst>
              <a:ext uri="{28A0092B-C50C-407E-A947-70E740481C1C}">
                <a14:useLocalDpi xmlns:a14="http://schemas.microsoft.com/office/drawing/2010/main" val="0"/>
              </a:ext>
            </a:extLst>
          </a:blip>
          <a:srcRect l="75101" t="25287" b="49677"/>
          <a:stretch>
            <a:fillRect/>
          </a:stretch>
        </p:blipFill>
        <p:spPr>
          <a:xfrm>
            <a:off x="6632450" y="9270098"/>
            <a:ext cx="1328919" cy="1347059"/>
          </a:xfrm>
          <a:prstGeom prst="rect">
            <a:avLst/>
          </a:prstGeom>
        </p:spPr>
      </p:pic>
      <p:sp>
        <p:nvSpPr>
          <p:cNvPr id="32" name="Rectangle 31">
            <a:extLst>
              <a:ext uri="{FF2B5EF4-FFF2-40B4-BE49-F238E27FC236}">
                <a16:creationId xmlns:a16="http://schemas.microsoft.com/office/drawing/2014/main" id="{78E20839-02D6-2E09-1D9D-6FF4CF329F14}"/>
              </a:ext>
            </a:extLst>
          </p:cNvPr>
          <p:cNvSpPr/>
          <p:nvPr/>
        </p:nvSpPr>
        <p:spPr>
          <a:xfrm>
            <a:off x="5286590" y="9667654"/>
            <a:ext cx="359664" cy="37795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文本框 15">
            <a:extLst>
              <a:ext uri="{FF2B5EF4-FFF2-40B4-BE49-F238E27FC236}">
                <a16:creationId xmlns:a16="http://schemas.microsoft.com/office/drawing/2014/main" id="{F8CF0AA1-A8BE-90C3-6D05-A85D93004BB1}"/>
              </a:ext>
            </a:extLst>
          </p:cNvPr>
          <p:cNvSpPr txBox="1"/>
          <p:nvPr/>
        </p:nvSpPr>
        <p:spPr>
          <a:xfrm>
            <a:off x="604674" y="10824461"/>
            <a:ext cx="7513728" cy="1785104"/>
          </a:xfrm>
          <a:prstGeom prst="rect">
            <a:avLst/>
          </a:prstGeom>
          <a:noFill/>
        </p:spPr>
        <p:txBody>
          <a:bodyPr wrap="square" rtlCol="0">
            <a:spAutoFit/>
          </a:bodyPr>
          <a:lstStyle/>
          <a:p>
            <a:pPr algn="just"/>
            <a:r>
              <a:rPr lang="zh-CN" altLang="en-US" sz="2200" b="0" i="0" dirty="0">
                <a:solidFill>
                  <a:srgbClr val="25293D"/>
                </a:solidFill>
                <a:effectLst/>
                <a:latin typeface="STKaiti" panose="02010600040101010101" pitchFamily="2" charset="-122"/>
                <a:ea typeface="STKaiti" panose="02010600040101010101" pitchFamily="2" charset="-122"/>
              </a:rPr>
              <a:t>“意料之外”如何而来？如图例，我们是如何从蓝莓松饼图像中分辨出吉娃娃的呢？尤其是，这两者在颜色和形状等低层特征上高度相似。一种假设是，大脑通过高层语义特征（狗 </a:t>
            </a:r>
            <a:r>
              <a:rPr lang="en-US" altLang="zh-CN" sz="2200" b="0" i="0" dirty="0">
                <a:solidFill>
                  <a:srgbClr val="25293D"/>
                </a:solidFill>
                <a:effectLst/>
                <a:latin typeface="STKaiti" panose="02010600040101010101" pitchFamily="2" charset="-122"/>
                <a:ea typeface="STKaiti" panose="02010600040101010101" pitchFamily="2" charset="-122"/>
              </a:rPr>
              <a:t>vs. </a:t>
            </a:r>
            <a:r>
              <a:rPr lang="zh-CN" altLang="en-US" sz="2200" b="0" i="0" dirty="0">
                <a:solidFill>
                  <a:srgbClr val="25293D"/>
                </a:solidFill>
                <a:effectLst/>
                <a:latin typeface="STKaiti" panose="02010600040101010101" pitchFamily="2" charset="-122"/>
                <a:ea typeface="STKaiti" panose="02010600040101010101" pitchFamily="2" charset="-122"/>
              </a:rPr>
              <a:t>蛋糕）加以区分。那么，高层次的预测误差信号是否应该在初级感觉皮层中被检测到呢？</a:t>
            </a:r>
          </a:p>
        </p:txBody>
      </p:sp>
      <p:grpSp>
        <p:nvGrpSpPr>
          <p:cNvPr id="98" name="Group 97">
            <a:extLst>
              <a:ext uri="{FF2B5EF4-FFF2-40B4-BE49-F238E27FC236}">
                <a16:creationId xmlns:a16="http://schemas.microsoft.com/office/drawing/2014/main" id="{A63DBE2C-7FD7-5A5E-6A2B-64B83EBADB8D}"/>
              </a:ext>
            </a:extLst>
          </p:cNvPr>
          <p:cNvGrpSpPr/>
          <p:nvPr/>
        </p:nvGrpSpPr>
        <p:grpSpPr>
          <a:xfrm>
            <a:off x="9403447" y="9092745"/>
            <a:ext cx="9735687" cy="4686069"/>
            <a:chOff x="9350116" y="9421817"/>
            <a:chExt cx="9196445" cy="4426516"/>
          </a:xfrm>
        </p:grpSpPr>
        <p:grpSp>
          <p:nvGrpSpPr>
            <p:cNvPr id="34" name="Group 33">
              <a:extLst>
                <a:ext uri="{FF2B5EF4-FFF2-40B4-BE49-F238E27FC236}">
                  <a16:creationId xmlns:a16="http://schemas.microsoft.com/office/drawing/2014/main" id="{E0671F06-E80D-6B28-2E95-D332CEE894E6}"/>
                </a:ext>
              </a:extLst>
            </p:cNvPr>
            <p:cNvGrpSpPr/>
            <p:nvPr/>
          </p:nvGrpSpPr>
          <p:grpSpPr>
            <a:xfrm>
              <a:off x="9350116" y="9421817"/>
              <a:ext cx="9196445" cy="4426516"/>
              <a:chOff x="448972" y="4760412"/>
              <a:chExt cx="9196445" cy="5062293"/>
            </a:xfrm>
          </p:grpSpPr>
          <p:pic>
            <p:nvPicPr>
              <p:cNvPr id="35" name="Picture 34">
                <a:extLst>
                  <a:ext uri="{FF2B5EF4-FFF2-40B4-BE49-F238E27FC236}">
                    <a16:creationId xmlns:a16="http://schemas.microsoft.com/office/drawing/2014/main" id="{21FD4493-190C-FC9C-0C8A-93BADABAEB1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238" y="8121359"/>
                <a:ext cx="2259600" cy="1701346"/>
              </a:xfrm>
              <a:prstGeom prst="rect">
                <a:avLst/>
              </a:prstGeom>
            </p:spPr>
          </p:pic>
          <p:pic>
            <p:nvPicPr>
              <p:cNvPr id="36" name="Picture 35">
                <a:extLst>
                  <a:ext uri="{FF2B5EF4-FFF2-40B4-BE49-F238E27FC236}">
                    <a16:creationId xmlns:a16="http://schemas.microsoft.com/office/drawing/2014/main" id="{218C1B9E-6E02-12F0-E2B6-04C8C9B236D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3840" y="5764069"/>
                <a:ext cx="2259601" cy="1694701"/>
              </a:xfrm>
              <a:prstGeom prst="rect">
                <a:avLst/>
              </a:prstGeom>
            </p:spPr>
          </p:pic>
          <p:pic>
            <p:nvPicPr>
              <p:cNvPr id="41" name="Picture 40">
                <a:extLst>
                  <a:ext uri="{FF2B5EF4-FFF2-40B4-BE49-F238E27FC236}">
                    <a16:creationId xmlns:a16="http://schemas.microsoft.com/office/drawing/2014/main" id="{29E78ECF-6CB5-0835-8DDA-8F334754FA95}"/>
                  </a:ext>
                </a:extLst>
              </p:cNvPr>
              <p:cNvPicPr>
                <a:picLocks noChangeAspect="1"/>
              </p:cNvPicPr>
              <p:nvPr/>
            </p:nvPicPr>
            <p:blipFill>
              <a:blip r:embed="rId7"/>
              <a:srcRect l="98" t="-341" r="-98" b="24801"/>
              <a:stretch>
                <a:fillRect/>
              </a:stretch>
            </p:blipFill>
            <p:spPr>
              <a:xfrm>
                <a:off x="3740425" y="5851242"/>
                <a:ext cx="2259601" cy="1454987"/>
              </a:xfrm>
              <a:prstGeom prst="rect">
                <a:avLst/>
              </a:prstGeom>
            </p:spPr>
          </p:pic>
          <p:grpSp>
            <p:nvGrpSpPr>
              <p:cNvPr id="43" name="Group 42">
                <a:extLst>
                  <a:ext uri="{FF2B5EF4-FFF2-40B4-BE49-F238E27FC236}">
                    <a16:creationId xmlns:a16="http://schemas.microsoft.com/office/drawing/2014/main" id="{4A1648A4-C656-093E-A5D0-33012C0BF667}"/>
                  </a:ext>
                </a:extLst>
              </p:cNvPr>
              <p:cNvGrpSpPr/>
              <p:nvPr/>
            </p:nvGrpSpPr>
            <p:grpSpPr>
              <a:xfrm>
                <a:off x="7115172" y="4878512"/>
                <a:ext cx="2530245" cy="3570164"/>
                <a:chOff x="2240878" y="6277960"/>
                <a:chExt cx="2015597" cy="2843994"/>
              </a:xfrm>
            </p:grpSpPr>
            <p:grpSp>
              <p:nvGrpSpPr>
                <p:cNvPr id="78" name="Group 77">
                  <a:extLst>
                    <a:ext uri="{FF2B5EF4-FFF2-40B4-BE49-F238E27FC236}">
                      <a16:creationId xmlns:a16="http://schemas.microsoft.com/office/drawing/2014/main" id="{B0DD5D5C-932A-9CC2-C4F4-F3B7EE319C3B}"/>
                    </a:ext>
                  </a:extLst>
                </p:cNvPr>
                <p:cNvGrpSpPr>
                  <a:grpSpLocks noChangeAspect="1"/>
                </p:cNvGrpSpPr>
                <p:nvPr/>
              </p:nvGrpSpPr>
              <p:grpSpPr>
                <a:xfrm>
                  <a:off x="2240878" y="7984516"/>
                  <a:ext cx="1537366" cy="1137438"/>
                  <a:chOff x="10261087" y="7587290"/>
                  <a:chExt cx="1948083" cy="1441311"/>
                </a:xfrm>
              </p:grpSpPr>
              <p:grpSp>
                <p:nvGrpSpPr>
                  <p:cNvPr id="80" name="Group 79">
                    <a:extLst>
                      <a:ext uri="{FF2B5EF4-FFF2-40B4-BE49-F238E27FC236}">
                        <a16:creationId xmlns:a16="http://schemas.microsoft.com/office/drawing/2014/main" id="{4012AAD8-F8CF-1849-5823-1056B7D46BB8}"/>
                      </a:ext>
                    </a:extLst>
                  </p:cNvPr>
                  <p:cNvGrpSpPr/>
                  <p:nvPr/>
                </p:nvGrpSpPr>
                <p:grpSpPr>
                  <a:xfrm>
                    <a:off x="10686108" y="7587290"/>
                    <a:ext cx="1523062" cy="1441311"/>
                    <a:chOff x="13145848" y="1687402"/>
                    <a:chExt cx="1781727" cy="1686092"/>
                  </a:xfrm>
                </p:grpSpPr>
                <p:pic>
                  <p:nvPicPr>
                    <p:cNvPr id="83" name="Picture 82" descr="A profile of a person's head with a brain&#10;&#10;AI-generated content may be incorrect.">
                      <a:extLst>
                        <a:ext uri="{FF2B5EF4-FFF2-40B4-BE49-F238E27FC236}">
                          <a16:creationId xmlns:a16="http://schemas.microsoft.com/office/drawing/2014/main" id="{9DBDD050-5053-8896-CF8A-6E0D23C8867F}"/>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flipH="1">
                      <a:off x="13207014" y="1687402"/>
                      <a:ext cx="1720561" cy="1662984"/>
                    </a:xfrm>
                    <a:prstGeom prst="rect">
                      <a:avLst/>
                    </a:prstGeom>
                  </p:spPr>
                </p:pic>
                <p:sp>
                  <p:nvSpPr>
                    <p:cNvPr id="84" name="Rectangle 83">
                      <a:extLst>
                        <a:ext uri="{FF2B5EF4-FFF2-40B4-BE49-F238E27FC236}">
                          <a16:creationId xmlns:a16="http://schemas.microsoft.com/office/drawing/2014/main" id="{73855C37-9B9D-7262-20B3-A3F7B7B7D52E}"/>
                        </a:ext>
                      </a:extLst>
                    </p:cNvPr>
                    <p:cNvSpPr/>
                    <p:nvPr/>
                  </p:nvSpPr>
                  <p:spPr>
                    <a:xfrm>
                      <a:off x="13145848" y="1710510"/>
                      <a:ext cx="1720560" cy="1662984"/>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85" name="Graphic 84">
                      <a:extLst>
                        <a:ext uri="{FF2B5EF4-FFF2-40B4-BE49-F238E27FC236}">
                          <a16:creationId xmlns:a16="http://schemas.microsoft.com/office/drawing/2014/main" id="{85270596-4007-80FC-7BA5-FBBA47845434}"/>
                        </a:ext>
                      </a:extLst>
                    </p:cNvPr>
                    <p:cNvPicPr>
                      <a:picLocks noChangeAspect="1"/>
                    </p:cNvPicPr>
                    <p:nvPr/>
                  </p:nvPicPr>
                  <p:blipFill>
                    <a:blip>
                      <a:extLst>
                        <a:ext uri="{96DAC541-7B7A-43D3-8B79-37D633B846F1}">
                          <asvg:svgBlip xmlns:asvg="http://schemas.microsoft.com/office/drawing/2016/SVG/main" r:embed="rId10"/>
                        </a:ext>
                        <a:ext uri="{837473B0-CC2E-450A-ABE3-18F120FF3D39}">
                          <a1611:picAttrSrcUrl xmlns:a1611="http://schemas.microsoft.com/office/drawing/2016/11/main" r:id="rId11"/>
                        </a:ext>
                      </a:extLst>
                    </a:blip>
                    <a:stretch>
                      <a:fillRect/>
                    </a:stretch>
                  </p:blipFill>
                  <p:spPr>
                    <a:xfrm flipH="1">
                      <a:off x="13493962" y="1970387"/>
                      <a:ext cx="612147" cy="865795"/>
                    </a:xfrm>
                    <a:prstGeom prst="rect">
                      <a:avLst/>
                    </a:prstGeom>
                  </p:spPr>
                </p:pic>
              </p:grpSp>
              <p:cxnSp>
                <p:nvCxnSpPr>
                  <p:cNvPr id="81" name="Straight Connector 80">
                    <a:extLst>
                      <a:ext uri="{FF2B5EF4-FFF2-40B4-BE49-F238E27FC236}">
                        <a16:creationId xmlns:a16="http://schemas.microsoft.com/office/drawing/2014/main" id="{984FF50C-768E-59A9-54AE-07B75A2B8B94}"/>
                      </a:ext>
                    </a:extLst>
                  </p:cNvPr>
                  <p:cNvCxnSpPr>
                    <a:cxnSpLocks/>
                  </p:cNvCxnSpPr>
                  <p:nvPr/>
                </p:nvCxnSpPr>
                <p:spPr>
                  <a:xfrm>
                    <a:off x="10261087" y="7960533"/>
                    <a:ext cx="624956" cy="230908"/>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82" name="Straight Connector 81">
                    <a:extLst>
                      <a:ext uri="{FF2B5EF4-FFF2-40B4-BE49-F238E27FC236}">
                        <a16:creationId xmlns:a16="http://schemas.microsoft.com/office/drawing/2014/main" id="{042D9509-6088-AB01-E61E-23A8272392CF}"/>
                      </a:ext>
                    </a:extLst>
                  </p:cNvPr>
                  <p:cNvCxnSpPr>
                    <a:cxnSpLocks/>
                  </p:cNvCxnSpPr>
                  <p:nvPr/>
                </p:nvCxnSpPr>
                <p:spPr>
                  <a:xfrm flipV="1">
                    <a:off x="10299918" y="8455337"/>
                    <a:ext cx="614969" cy="175081"/>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79" name="TextBox 78">
                  <a:extLst>
                    <a:ext uri="{FF2B5EF4-FFF2-40B4-BE49-F238E27FC236}">
                      <a16:creationId xmlns:a16="http://schemas.microsoft.com/office/drawing/2014/main" id="{870543BD-97D6-1118-5743-820EE847F97E}"/>
                    </a:ext>
                  </a:extLst>
                </p:cNvPr>
                <p:cNvSpPr txBox="1"/>
                <p:nvPr/>
              </p:nvSpPr>
              <p:spPr>
                <a:xfrm>
                  <a:off x="2360743" y="6277960"/>
                  <a:ext cx="1895732" cy="874035"/>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rPr>
                    <a:t>预测编码</a:t>
                  </a:r>
                  <a:br>
                    <a:rPr lang="en-US" altLang="zh-CN" sz="2400" dirty="0">
                      <a:latin typeface="STKaiti" panose="02010600040101010101" pitchFamily="2" charset="-122"/>
                      <a:ea typeface="STKaiti" panose="02010600040101010101" pitchFamily="2" charset="-122"/>
                    </a:rPr>
                  </a:br>
                  <a:r>
                    <a:rPr lang="fr-FR" altLang="zh-CN" dirty="0">
                      <a:latin typeface="STKaiti" panose="02010600040101010101" pitchFamily="2" charset="-122"/>
                      <a:ea typeface="STKaiti" panose="02010600040101010101" pitchFamily="2" charset="-122"/>
                    </a:rPr>
                    <a:t>Nature Communications. 2026;17:3868</a:t>
                  </a:r>
                  <a:endParaRPr lang="en-US" sz="2400" baseline="30000" dirty="0">
                    <a:latin typeface="STKaiti" panose="02010600040101010101" pitchFamily="2" charset="-122"/>
                    <a:ea typeface="STKaiti" panose="02010600040101010101" pitchFamily="2" charset="-122"/>
                  </a:endParaRPr>
                </a:p>
              </p:txBody>
            </p:sp>
          </p:grpSp>
          <p:pic>
            <p:nvPicPr>
              <p:cNvPr id="47" name="Picture 46">
                <a:extLst>
                  <a:ext uri="{FF2B5EF4-FFF2-40B4-BE49-F238E27FC236}">
                    <a16:creationId xmlns:a16="http://schemas.microsoft.com/office/drawing/2014/main" id="{A82243D5-95A7-3A47-3BDE-7F11B1A70B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738695" y="8125932"/>
                <a:ext cx="2259601" cy="1694699"/>
              </a:xfrm>
              <a:prstGeom prst="rect">
                <a:avLst/>
              </a:prstGeom>
            </p:spPr>
          </p:pic>
          <p:cxnSp>
            <p:nvCxnSpPr>
              <p:cNvPr id="48" name="Straight Arrow Connector 47">
                <a:extLst>
                  <a:ext uri="{FF2B5EF4-FFF2-40B4-BE49-F238E27FC236}">
                    <a16:creationId xmlns:a16="http://schemas.microsoft.com/office/drawing/2014/main" id="{74AC2587-5E6F-8A11-933E-27AC377BC3EE}"/>
                  </a:ext>
                </a:extLst>
              </p:cNvPr>
              <p:cNvCxnSpPr/>
              <p:nvPr/>
            </p:nvCxnSpPr>
            <p:spPr>
              <a:xfrm>
                <a:off x="2983213" y="6443111"/>
                <a:ext cx="653824"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4E361404-7999-596E-8053-5602C76FB126}"/>
                  </a:ext>
                </a:extLst>
              </p:cNvPr>
              <p:cNvCxnSpPr/>
              <p:nvPr/>
            </p:nvCxnSpPr>
            <p:spPr>
              <a:xfrm>
                <a:off x="2983213" y="8635873"/>
                <a:ext cx="653824"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A1BFF811-F620-A223-8B8A-97CB49E0777F}"/>
                  </a:ext>
                </a:extLst>
              </p:cNvPr>
              <p:cNvCxnSpPr>
                <a:cxnSpLocks/>
              </p:cNvCxnSpPr>
              <p:nvPr/>
            </p:nvCxnSpPr>
            <p:spPr>
              <a:xfrm>
                <a:off x="4870226" y="6941244"/>
                <a:ext cx="0" cy="43846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AC078A62-9903-2EEB-70AF-78B67987AD45}"/>
                  </a:ext>
                </a:extLst>
              </p:cNvPr>
              <p:cNvCxnSpPr>
                <a:cxnSpLocks/>
              </p:cNvCxnSpPr>
              <p:nvPr/>
            </p:nvCxnSpPr>
            <p:spPr>
              <a:xfrm flipV="1">
                <a:off x="6217193" y="8184257"/>
                <a:ext cx="673708" cy="46598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68" name="Freeform: Shape 67">
                <a:extLst>
                  <a:ext uri="{FF2B5EF4-FFF2-40B4-BE49-F238E27FC236}">
                    <a16:creationId xmlns:a16="http://schemas.microsoft.com/office/drawing/2014/main" id="{9812D982-5213-9D36-83FC-C92D9107ED5C}"/>
                  </a:ext>
                </a:extLst>
              </p:cNvPr>
              <p:cNvSpPr/>
              <p:nvPr/>
            </p:nvSpPr>
            <p:spPr>
              <a:xfrm>
                <a:off x="2971800" y="8391902"/>
                <a:ext cx="4754880" cy="1282914"/>
              </a:xfrm>
              <a:custGeom>
                <a:avLst/>
                <a:gdLst>
                  <a:gd name="csX0" fmla="*/ 0 w 4754880"/>
                  <a:gd name="csY0" fmla="*/ 701040 h 1304464"/>
                  <a:gd name="csX1" fmla="*/ 822960 w 4754880"/>
                  <a:gd name="csY1" fmla="*/ 1188720 h 1304464"/>
                  <a:gd name="csX2" fmla="*/ 1996440 w 4754880"/>
                  <a:gd name="csY2" fmla="*/ 1280160 h 1304464"/>
                  <a:gd name="csX3" fmla="*/ 3779520 w 4754880"/>
                  <a:gd name="csY3" fmla="*/ 838200 h 1304464"/>
                  <a:gd name="csX4" fmla="*/ 4754880 w 4754880"/>
                  <a:gd name="csY4" fmla="*/ 0 h 1304464"/>
                  <a:gd name="csX0" fmla="*/ 0 w 4754880"/>
                  <a:gd name="csY0" fmla="*/ 701040 h 1280160"/>
                  <a:gd name="csX1" fmla="*/ 1996440 w 4754880"/>
                  <a:gd name="csY1" fmla="*/ 1280160 h 1280160"/>
                  <a:gd name="csX2" fmla="*/ 3779520 w 4754880"/>
                  <a:gd name="csY2" fmla="*/ 838200 h 1280160"/>
                  <a:gd name="csX3" fmla="*/ 4754880 w 4754880"/>
                  <a:gd name="csY3" fmla="*/ 0 h 1280160"/>
                  <a:gd name="csX0" fmla="*/ 0 w 4754880"/>
                  <a:gd name="csY0" fmla="*/ 701040 h 1280160"/>
                  <a:gd name="csX1" fmla="*/ 1996440 w 4754880"/>
                  <a:gd name="csY1" fmla="*/ 1280160 h 1280160"/>
                  <a:gd name="csX2" fmla="*/ 3779520 w 4754880"/>
                  <a:gd name="csY2" fmla="*/ 838200 h 1280160"/>
                  <a:gd name="csX3" fmla="*/ 4754880 w 4754880"/>
                  <a:gd name="csY3" fmla="*/ 0 h 1280160"/>
                  <a:gd name="csX0" fmla="*/ 0 w 4754880"/>
                  <a:gd name="csY0" fmla="*/ 701040 h 1283144"/>
                  <a:gd name="csX1" fmla="*/ 1996440 w 4754880"/>
                  <a:gd name="csY1" fmla="*/ 1280160 h 1283144"/>
                  <a:gd name="csX2" fmla="*/ 3779520 w 4754880"/>
                  <a:gd name="csY2" fmla="*/ 838200 h 1283144"/>
                  <a:gd name="csX3" fmla="*/ 4754880 w 4754880"/>
                  <a:gd name="csY3" fmla="*/ 0 h 1283144"/>
                  <a:gd name="csX0" fmla="*/ 0 w 4754880"/>
                  <a:gd name="csY0" fmla="*/ 701040 h 1282511"/>
                  <a:gd name="csX1" fmla="*/ 1996440 w 4754880"/>
                  <a:gd name="csY1" fmla="*/ 1280160 h 1282511"/>
                  <a:gd name="csX2" fmla="*/ 3794760 w 4754880"/>
                  <a:gd name="csY2" fmla="*/ 868680 h 1282511"/>
                  <a:gd name="csX3" fmla="*/ 4754880 w 4754880"/>
                  <a:gd name="csY3" fmla="*/ 0 h 1282511"/>
                  <a:gd name="csX0" fmla="*/ 0 w 4754880"/>
                  <a:gd name="csY0" fmla="*/ 701040 h 1282511"/>
                  <a:gd name="csX1" fmla="*/ 1996440 w 4754880"/>
                  <a:gd name="csY1" fmla="*/ 1280160 h 1282511"/>
                  <a:gd name="csX2" fmla="*/ 3794760 w 4754880"/>
                  <a:gd name="csY2" fmla="*/ 868680 h 1282511"/>
                  <a:gd name="csX3" fmla="*/ 4754880 w 4754880"/>
                  <a:gd name="csY3" fmla="*/ 0 h 1282511"/>
                  <a:gd name="csX0" fmla="*/ 0 w 4754880"/>
                  <a:gd name="csY0" fmla="*/ 701040 h 1282914"/>
                  <a:gd name="csX1" fmla="*/ 1996440 w 4754880"/>
                  <a:gd name="csY1" fmla="*/ 1280160 h 1282914"/>
                  <a:gd name="csX2" fmla="*/ 3794760 w 4754880"/>
                  <a:gd name="csY2" fmla="*/ 868680 h 1282914"/>
                  <a:gd name="csX3" fmla="*/ 4754880 w 4754880"/>
                  <a:gd name="csY3" fmla="*/ 0 h 1282914"/>
                </a:gdLst>
                <a:ahLst/>
                <a:cxnLst>
                  <a:cxn ang="0">
                    <a:pos x="csX0" y="csY0"/>
                  </a:cxn>
                  <a:cxn ang="0">
                    <a:pos x="csX1" y="csY1"/>
                  </a:cxn>
                  <a:cxn ang="0">
                    <a:pos x="csX2" y="csY2"/>
                  </a:cxn>
                  <a:cxn ang="0">
                    <a:pos x="csX3" y="csY3"/>
                  </a:cxn>
                </a:cxnLst>
                <a:rect l="l" t="t" r="r" b="b"/>
                <a:pathLst>
                  <a:path w="4754880" h="1282914">
                    <a:moveTo>
                      <a:pt x="0" y="701040"/>
                    </a:moveTo>
                    <a:cubicBezTo>
                      <a:pt x="621665" y="1141730"/>
                      <a:pt x="1363980" y="1252220"/>
                      <a:pt x="1996440" y="1280160"/>
                    </a:cubicBezTo>
                    <a:cubicBezTo>
                      <a:pt x="2628900" y="1308100"/>
                      <a:pt x="3342640" y="1120140"/>
                      <a:pt x="3794760" y="868680"/>
                    </a:cubicBezTo>
                    <a:cubicBezTo>
                      <a:pt x="4254500" y="601980"/>
                      <a:pt x="4497070" y="312420"/>
                      <a:pt x="4754880" y="0"/>
                    </a:cubicBezTo>
                  </a:path>
                </a:pathLst>
              </a:custGeom>
              <a:noFill/>
              <a:ln w="57150">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cxnSp>
            <p:nvCxnSpPr>
              <p:cNvPr id="73" name="Straight Arrow Connector 72">
                <a:extLst>
                  <a:ext uri="{FF2B5EF4-FFF2-40B4-BE49-F238E27FC236}">
                    <a16:creationId xmlns:a16="http://schemas.microsoft.com/office/drawing/2014/main" id="{44412545-856D-7C69-B2ED-A3DB0EBC0AA3}"/>
                  </a:ext>
                </a:extLst>
              </p:cNvPr>
              <p:cNvCxnSpPr>
                <a:cxnSpLocks/>
              </p:cNvCxnSpPr>
              <p:nvPr/>
            </p:nvCxnSpPr>
            <p:spPr>
              <a:xfrm>
                <a:off x="6217193" y="6578736"/>
                <a:ext cx="703955" cy="581744"/>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74" name="TextBox 73">
                <a:extLst>
                  <a:ext uri="{FF2B5EF4-FFF2-40B4-BE49-F238E27FC236}">
                    <a16:creationId xmlns:a16="http://schemas.microsoft.com/office/drawing/2014/main" id="{3562B40D-2555-0333-A367-28F3D2E17A35}"/>
                  </a:ext>
                </a:extLst>
              </p:cNvPr>
              <p:cNvSpPr txBox="1"/>
              <p:nvPr/>
            </p:nvSpPr>
            <p:spPr>
              <a:xfrm>
                <a:off x="3416618" y="4760412"/>
                <a:ext cx="2616797" cy="1097206"/>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rPr>
                  <a:t>单神经元电生理</a:t>
                </a:r>
                <a:br>
                  <a:rPr lang="en-US" altLang="zh-CN" sz="2400" dirty="0">
                    <a:latin typeface="STKaiti" panose="02010600040101010101" pitchFamily="2" charset="-122"/>
                    <a:ea typeface="STKaiti" panose="02010600040101010101" pitchFamily="2" charset="-122"/>
                  </a:rPr>
                </a:br>
                <a:r>
                  <a:rPr lang="en-US" altLang="zh-CN" dirty="0">
                    <a:latin typeface="STKaiti" panose="02010600040101010101" pitchFamily="2" charset="-122"/>
                    <a:ea typeface="STKaiti" panose="02010600040101010101" pitchFamily="2" charset="-122"/>
                  </a:rPr>
                  <a:t>J Neuroscience. 2023;43(18):3202–3218</a:t>
                </a:r>
                <a:endParaRPr lang="en-US" sz="2400" baseline="30000" dirty="0">
                  <a:latin typeface="STKaiti" panose="02010600040101010101" pitchFamily="2" charset="-122"/>
                  <a:ea typeface="STKaiti" panose="02010600040101010101" pitchFamily="2" charset="-122"/>
                </a:endParaRPr>
              </a:p>
            </p:txBody>
          </p:sp>
          <p:sp>
            <p:nvSpPr>
              <p:cNvPr id="75" name="TextBox 74">
                <a:extLst>
                  <a:ext uri="{FF2B5EF4-FFF2-40B4-BE49-F238E27FC236}">
                    <a16:creationId xmlns:a16="http://schemas.microsoft.com/office/drawing/2014/main" id="{A2740E8E-0583-7A2B-5351-8F6F01F01E55}"/>
                  </a:ext>
                </a:extLst>
              </p:cNvPr>
              <p:cNvSpPr txBox="1"/>
              <p:nvPr/>
            </p:nvSpPr>
            <p:spPr>
              <a:xfrm>
                <a:off x="671804" y="4800095"/>
                <a:ext cx="1792113" cy="1097206"/>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rPr>
                  <a:t>离子通道</a:t>
                </a:r>
                <a:br>
                  <a:rPr lang="en-US" altLang="zh-CN" sz="2400" dirty="0">
                    <a:latin typeface="STKaiti" panose="02010600040101010101" pitchFamily="2" charset="-122"/>
                    <a:ea typeface="STKaiti" panose="02010600040101010101" pitchFamily="2" charset="-122"/>
                  </a:rPr>
                </a:br>
                <a:r>
                  <a:rPr lang="en-US" altLang="zh-CN" dirty="0" err="1">
                    <a:latin typeface="STKaiti" panose="02010600040101010101" pitchFamily="2" charset="-122"/>
                    <a:ea typeface="STKaiti" panose="02010600040101010101" pitchFamily="2" charset="-122"/>
                  </a:rPr>
                  <a:t>iScience</a:t>
                </a:r>
                <a:r>
                  <a:rPr lang="en-US" altLang="zh-CN" dirty="0">
                    <a:latin typeface="STKaiti" panose="02010600040101010101" pitchFamily="2" charset="-122"/>
                    <a:ea typeface="STKaiti" panose="02010600040101010101" pitchFamily="2" charset="-122"/>
                  </a:rPr>
                  <a:t>, 2026, Accepted</a:t>
                </a:r>
                <a:endParaRPr lang="en-US" sz="2400" baseline="30000" dirty="0">
                  <a:latin typeface="STKaiti" panose="02010600040101010101" pitchFamily="2" charset="-122"/>
                  <a:ea typeface="STKaiti" panose="02010600040101010101" pitchFamily="2" charset="-122"/>
                </a:endParaRPr>
              </a:p>
            </p:txBody>
          </p:sp>
          <p:sp>
            <p:nvSpPr>
              <p:cNvPr id="76" name="TextBox 75">
                <a:extLst>
                  <a:ext uri="{FF2B5EF4-FFF2-40B4-BE49-F238E27FC236}">
                    <a16:creationId xmlns:a16="http://schemas.microsoft.com/office/drawing/2014/main" id="{7267D6D9-34D3-2AC3-8897-B868A6D2E72D}"/>
                  </a:ext>
                </a:extLst>
              </p:cNvPr>
              <p:cNvSpPr txBox="1"/>
              <p:nvPr/>
            </p:nvSpPr>
            <p:spPr>
              <a:xfrm>
                <a:off x="448972" y="7295663"/>
                <a:ext cx="2235510" cy="1097206"/>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rPr>
                  <a:t>突触可塑性</a:t>
                </a:r>
                <a:br>
                  <a:rPr lang="en-US" altLang="zh-CN" sz="2400" dirty="0">
                    <a:latin typeface="STKaiti" panose="02010600040101010101" pitchFamily="2" charset="-122"/>
                    <a:ea typeface="STKaiti" panose="02010600040101010101" pitchFamily="2" charset="-122"/>
                  </a:rPr>
                </a:br>
                <a:r>
                  <a:rPr lang="en-US" altLang="zh-CN" dirty="0" err="1">
                    <a:latin typeface="STKaiti" panose="02010600040101010101" pitchFamily="2" charset="-122"/>
                    <a:ea typeface="STKaiti" panose="02010600040101010101" pitchFamily="2" charset="-122"/>
                  </a:rPr>
                  <a:t>PLoS</a:t>
                </a:r>
                <a:r>
                  <a:rPr lang="en-US" altLang="zh-CN" dirty="0">
                    <a:latin typeface="STKaiti" panose="02010600040101010101" pitchFamily="2" charset="-122"/>
                    <a:ea typeface="STKaiti" panose="02010600040101010101" pitchFamily="2" charset="-122"/>
                  </a:rPr>
                  <a:t> CB. 2022;18(10):e1010338.</a:t>
                </a:r>
                <a:endParaRPr lang="en-US" sz="2400" baseline="30000" dirty="0">
                  <a:latin typeface="STKaiti" panose="02010600040101010101" pitchFamily="2" charset="-122"/>
                  <a:ea typeface="STKaiti" panose="02010600040101010101" pitchFamily="2" charset="-122"/>
                </a:endParaRPr>
              </a:p>
            </p:txBody>
          </p:sp>
          <p:sp>
            <p:nvSpPr>
              <p:cNvPr id="77" name="TextBox 76">
                <a:extLst>
                  <a:ext uri="{FF2B5EF4-FFF2-40B4-BE49-F238E27FC236}">
                    <a16:creationId xmlns:a16="http://schemas.microsoft.com/office/drawing/2014/main" id="{962DE90D-8D84-357E-A091-4A9A8A903B95}"/>
                  </a:ext>
                </a:extLst>
              </p:cNvPr>
              <p:cNvSpPr txBox="1"/>
              <p:nvPr/>
            </p:nvSpPr>
            <p:spPr>
              <a:xfrm>
                <a:off x="3677381" y="7340819"/>
                <a:ext cx="2397797" cy="1363195"/>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rPr>
                  <a:t>多神经元动力学</a:t>
                </a:r>
                <a:endParaRPr lang="en-US" altLang="zh-CN" sz="2400" dirty="0">
                  <a:latin typeface="STKaiti" panose="02010600040101010101" pitchFamily="2" charset="-122"/>
                  <a:ea typeface="STKaiti" panose="02010600040101010101" pitchFamily="2" charset="-122"/>
                </a:endParaRPr>
              </a:p>
              <a:p>
                <a:pPr algn="ctr"/>
                <a:r>
                  <a:rPr lang="en-US" altLang="zh-CN" dirty="0">
                    <a:latin typeface="STKaiti" panose="02010600040101010101" pitchFamily="2" charset="-122"/>
                    <a:ea typeface="STKaiti" panose="02010600040101010101" pitchFamily="2" charset="-122"/>
                  </a:rPr>
                  <a:t>Scientific Reports. 2018;8.1:6949.</a:t>
                </a:r>
                <a:br>
                  <a:rPr lang="en-US" altLang="zh-CN" sz="2400" dirty="0">
                    <a:latin typeface="STKaiti" panose="02010600040101010101" pitchFamily="2" charset="-122"/>
                    <a:ea typeface="STKaiti" panose="02010600040101010101" pitchFamily="2" charset="-122"/>
                  </a:rPr>
                </a:br>
                <a:endParaRPr lang="en-US" sz="2400" baseline="30000" dirty="0">
                  <a:latin typeface="STKaiti" panose="02010600040101010101" pitchFamily="2" charset="-122"/>
                  <a:ea typeface="STKaiti" panose="02010600040101010101" pitchFamily="2" charset="-122"/>
                </a:endParaRPr>
              </a:p>
            </p:txBody>
          </p:sp>
        </p:grpSp>
        <p:sp>
          <p:nvSpPr>
            <p:cNvPr id="86" name="TextBox 85">
              <a:extLst>
                <a:ext uri="{FF2B5EF4-FFF2-40B4-BE49-F238E27FC236}">
                  <a16:creationId xmlns:a16="http://schemas.microsoft.com/office/drawing/2014/main" id="{377BB818-6EFA-A2B3-C8B8-8D44DA0C2CC4}"/>
                </a:ext>
              </a:extLst>
            </p:cNvPr>
            <p:cNvSpPr txBox="1"/>
            <p:nvPr/>
          </p:nvSpPr>
          <p:spPr>
            <a:xfrm>
              <a:off x="14926235" y="11862815"/>
              <a:ext cx="1792113" cy="348875"/>
            </a:xfrm>
            <a:prstGeom prst="rect">
              <a:avLst/>
            </a:prstGeom>
            <a:noFill/>
          </p:spPr>
          <p:txBody>
            <a:bodyPr wrap="square">
              <a:spAutoFit/>
            </a:bodyPr>
            <a:lstStyle/>
            <a:p>
              <a:pPr algn="ctr"/>
              <a:r>
                <a:rPr lang="en-US" altLang="zh-CN" dirty="0">
                  <a:latin typeface="STKaiti" panose="02010600040101010101" pitchFamily="2" charset="-122"/>
                  <a:ea typeface="STKaiti" panose="02010600040101010101" pitchFamily="2" charset="-122"/>
                </a:rPr>
                <a:t>“</a:t>
              </a:r>
              <a:r>
                <a:rPr lang="zh-CN" altLang="en-US" dirty="0">
                  <a:latin typeface="STKaiti" panose="02010600040101010101" pitchFamily="2" charset="-122"/>
                  <a:ea typeface="STKaiti" panose="02010600040101010101" pitchFamily="2" charset="-122"/>
                </a:rPr>
                <a:t>情理之中</a:t>
              </a:r>
              <a:r>
                <a:rPr lang="en-US" altLang="zh-CN" dirty="0">
                  <a:latin typeface="STKaiti" panose="02010600040101010101" pitchFamily="2" charset="-122"/>
                  <a:ea typeface="STKaiti" panose="02010600040101010101" pitchFamily="2" charset="-122"/>
                </a:rPr>
                <a:t>…”</a:t>
              </a:r>
              <a:endParaRPr lang="en-US" baseline="30000" dirty="0">
                <a:latin typeface="STKaiti" panose="02010600040101010101" pitchFamily="2" charset="-122"/>
                <a:ea typeface="STKaiti" panose="02010600040101010101" pitchFamily="2" charset="-122"/>
              </a:endParaRPr>
            </a:p>
          </p:txBody>
        </p:sp>
        <p:grpSp>
          <p:nvGrpSpPr>
            <p:cNvPr id="87" name="Group 86">
              <a:extLst>
                <a:ext uri="{FF2B5EF4-FFF2-40B4-BE49-F238E27FC236}">
                  <a16:creationId xmlns:a16="http://schemas.microsoft.com/office/drawing/2014/main" id="{35B502EA-472A-76BA-FAAB-3E22475A0ED2}"/>
                </a:ext>
              </a:extLst>
            </p:cNvPr>
            <p:cNvGrpSpPr/>
            <p:nvPr/>
          </p:nvGrpSpPr>
          <p:grpSpPr>
            <a:xfrm>
              <a:off x="16660882" y="10619437"/>
              <a:ext cx="1792113" cy="980513"/>
              <a:chOff x="10299425" y="6277178"/>
              <a:chExt cx="1792113" cy="980513"/>
            </a:xfrm>
          </p:grpSpPr>
          <p:sp>
            <p:nvSpPr>
              <p:cNvPr id="88" name="Oval 87">
                <a:extLst>
                  <a:ext uri="{FF2B5EF4-FFF2-40B4-BE49-F238E27FC236}">
                    <a16:creationId xmlns:a16="http://schemas.microsoft.com/office/drawing/2014/main" id="{88958434-E3EA-3372-13D6-30EA88776E35}"/>
                  </a:ext>
                </a:extLst>
              </p:cNvPr>
              <p:cNvSpPr/>
              <p:nvPr/>
            </p:nvSpPr>
            <p:spPr>
              <a:xfrm>
                <a:off x="10626229" y="6931535"/>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89" name="Group 88">
                <a:extLst>
                  <a:ext uri="{FF2B5EF4-FFF2-40B4-BE49-F238E27FC236}">
                    <a16:creationId xmlns:a16="http://schemas.microsoft.com/office/drawing/2014/main" id="{FE11DF48-F1F1-A6E1-2D41-3CE17CD86E29}"/>
                  </a:ext>
                </a:extLst>
              </p:cNvPr>
              <p:cNvGrpSpPr/>
              <p:nvPr/>
            </p:nvGrpSpPr>
            <p:grpSpPr>
              <a:xfrm>
                <a:off x="10299425" y="6277178"/>
                <a:ext cx="1792113" cy="980513"/>
                <a:chOff x="10299425" y="6277178"/>
                <a:chExt cx="1792113" cy="980513"/>
              </a:xfrm>
            </p:grpSpPr>
            <p:grpSp>
              <p:nvGrpSpPr>
                <p:cNvPr id="90" name="Group 89">
                  <a:extLst>
                    <a:ext uri="{FF2B5EF4-FFF2-40B4-BE49-F238E27FC236}">
                      <a16:creationId xmlns:a16="http://schemas.microsoft.com/office/drawing/2014/main" id="{BDEB721D-33F0-8FCA-A599-CB3FED465372}"/>
                    </a:ext>
                  </a:extLst>
                </p:cNvPr>
                <p:cNvGrpSpPr/>
                <p:nvPr/>
              </p:nvGrpSpPr>
              <p:grpSpPr>
                <a:xfrm>
                  <a:off x="10538658" y="6277178"/>
                  <a:ext cx="1382866" cy="806843"/>
                  <a:chOff x="11480164" y="7096154"/>
                  <a:chExt cx="910653" cy="717103"/>
                </a:xfrm>
              </p:grpSpPr>
              <p:sp>
                <p:nvSpPr>
                  <p:cNvPr id="96" name="Rectangle: Rounded Corners 95">
                    <a:extLst>
                      <a:ext uri="{FF2B5EF4-FFF2-40B4-BE49-F238E27FC236}">
                        <a16:creationId xmlns:a16="http://schemas.microsoft.com/office/drawing/2014/main" id="{AB64EBD9-B8FC-FA8F-CA35-A4D15852CF2E}"/>
                      </a:ext>
                    </a:extLst>
                  </p:cNvPr>
                  <p:cNvSpPr/>
                  <p:nvPr/>
                </p:nvSpPr>
                <p:spPr>
                  <a:xfrm>
                    <a:off x="11480164" y="7606483"/>
                    <a:ext cx="209973" cy="20677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n>
                        <a:solidFill>
                          <a:schemeClr val="bg1"/>
                        </a:solidFill>
                      </a:ln>
                    </a:endParaRPr>
                  </a:p>
                </p:txBody>
              </p:sp>
              <p:pic>
                <p:nvPicPr>
                  <p:cNvPr id="97" name="Picture 96" descr="A white cloud with black background&#10;&#10;Description automatically generated">
                    <a:extLst>
                      <a:ext uri="{FF2B5EF4-FFF2-40B4-BE49-F238E27FC236}">
                        <a16:creationId xmlns:a16="http://schemas.microsoft.com/office/drawing/2014/main" id="{82BFE292-EF6A-BF16-AB03-7CC5E24EF634}"/>
                      </a:ext>
                    </a:extLst>
                  </p:cNvPr>
                  <p:cNvPicPr>
                    <a:picLocks noChangeAspect="1"/>
                  </p:cNvPicPr>
                  <p:nvPr/>
                </p:nvPicPr>
                <p:blipFill>
                  <a:blip r:embed="rId13" cstate="print">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b="8603"/>
                  <a:stretch>
                    <a:fillRect/>
                  </a:stretch>
                </p:blipFill>
                <p:spPr>
                  <a:xfrm>
                    <a:off x="11510540" y="7096154"/>
                    <a:ext cx="880277" cy="703501"/>
                  </a:xfrm>
                  <a:prstGeom prst="rect">
                    <a:avLst/>
                  </a:prstGeom>
                </p:spPr>
              </p:pic>
            </p:grpSp>
            <p:sp>
              <p:nvSpPr>
                <p:cNvPr id="91" name="TextBox 90">
                  <a:extLst>
                    <a:ext uri="{FF2B5EF4-FFF2-40B4-BE49-F238E27FC236}">
                      <a16:creationId xmlns:a16="http://schemas.microsoft.com/office/drawing/2014/main" id="{62138212-6187-D8E4-22AD-19529C81AAE9}"/>
                    </a:ext>
                  </a:extLst>
                </p:cNvPr>
                <p:cNvSpPr txBox="1"/>
                <p:nvPr/>
              </p:nvSpPr>
              <p:spPr>
                <a:xfrm>
                  <a:off x="10299425" y="6528362"/>
                  <a:ext cx="1792113" cy="348875"/>
                </a:xfrm>
                <a:prstGeom prst="rect">
                  <a:avLst/>
                </a:prstGeom>
                <a:noFill/>
              </p:spPr>
              <p:txBody>
                <a:bodyPr wrap="square">
                  <a:spAutoFit/>
                </a:bodyPr>
                <a:lstStyle/>
                <a:p>
                  <a:pPr algn="ctr"/>
                  <a:r>
                    <a:rPr lang="en-US" altLang="zh-CN" dirty="0">
                      <a:latin typeface="STKaiti" panose="02010600040101010101" pitchFamily="2" charset="-122"/>
                      <a:ea typeface="STKaiti" panose="02010600040101010101" pitchFamily="2" charset="-122"/>
                    </a:rPr>
                    <a:t>…</a:t>
                  </a:r>
                  <a:r>
                    <a:rPr lang="zh-CN" altLang="en-US" dirty="0">
                      <a:latin typeface="STKaiti" panose="02010600040101010101" pitchFamily="2" charset="-122"/>
                      <a:ea typeface="STKaiti" panose="02010600040101010101" pitchFamily="2" charset="-122"/>
                    </a:rPr>
                    <a:t>意料之外</a:t>
                  </a:r>
                  <a:endParaRPr lang="en-US" baseline="30000" dirty="0">
                    <a:latin typeface="STKaiti" panose="02010600040101010101" pitchFamily="2" charset="-122"/>
                    <a:ea typeface="STKaiti" panose="02010600040101010101" pitchFamily="2" charset="-122"/>
                  </a:endParaRPr>
                </a:p>
              </p:txBody>
            </p:sp>
            <p:sp>
              <p:nvSpPr>
                <p:cNvPr id="92" name="Oval 91">
                  <a:extLst>
                    <a:ext uri="{FF2B5EF4-FFF2-40B4-BE49-F238E27FC236}">
                      <a16:creationId xmlns:a16="http://schemas.microsoft.com/office/drawing/2014/main" id="{CA256A98-704D-5650-0695-909A90F5DBBC}"/>
                    </a:ext>
                  </a:extLst>
                </p:cNvPr>
                <p:cNvSpPr/>
                <p:nvPr/>
              </p:nvSpPr>
              <p:spPr>
                <a:xfrm>
                  <a:off x="10720358" y="6928071"/>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93" name="Picture 92">
                  <a:extLst>
                    <a:ext uri="{FF2B5EF4-FFF2-40B4-BE49-F238E27FC236}">
                      <a16:creationId xmlns:a16="http://schemas.microsoft.com/office/drawing/2014/main" id="{F8A3C7C1-F367-93B3-CDB3-73D78B0371E1}"/>
                    </a:ext>
                  </a:extLst>
                </p:cNvPr>
                <p:cNvPicPr>
                  <a:picLocks noChangeAspect="1"/>
                </p:cNvPicPr>
                <p:nvPr/>
              </p:nvPicPr>
              <p:blipFill>
                <a:blip r:embed="rId15"/>
                <a:srcRect t="69760" r="69965"/>
                <a:stretch>
                  <a:fillRect/>
                </a:stretch>
              </p:blipFill>
              <p:spPr>
                <a:xfrm>
                  <a:off x="10846071" y="7024924"/>
                  <a:ext cx="264387" cy="232767"/>
                </a:xfrm>
                <a:prstGeom prst="rect">
                  <a:avLst/>
                </a:prstGeom>
              </p:spPr>
            </p:pic>
            <p:sp>
              <p:nvSpPr>
                <p:cNvPr id="94" name="Oval 93">
                  <a:extLst>
                    <a:ext uri="{FF2B5EF4-FFF2-40B4-BE49-F238E27FC236}">
                      <a16:creationId xmlns:a16="http://schemas.microsoft.com/office/drawing/2014/main" id="{8A317DB8-7D52-6493-1E1E-30481B5AA1FA}"/>
                    </a:ext>
                  </a:extLst>
                </p:cNvPr>
                <p:cNvSpPr/>
                <p:nvPr/>
              </p:nvSpPr>
              <p:spPr>
                <a:xfrm rot="18277996">
                  <a:off x="11045852" y="6971362"/>
                  <a:ext cx="64521" cy="1964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5" name="Oval 94">
                  <a:extLst>
                    <a:ext uri="{FF2B5EF4-FFF2-40B4-BE49-F238E27FC236}">
                      <a16:creationId xmlns:a16="http://schemas.microsoft.com/office/drawing/2014/main" id="{1B7F1A46-90BC-6B3F-8BE8-841668F69AD5}"/>
                    </a:ext>
                  </a:extLst>
                </p:cNvPr>
                <p:cNvSpPr/>
                <p:nvPr/>
              </p:nvSpPr>
              <p:spPr>
                <a:xfrm>
                  <a:off x="10587008" y="6925013"/>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grpSp>
      <p:sp>
        <p:nvSpPr>
          <p:cNvPr id="99" name="标题 1">
            <a:extLst>
              <a:ext uri="{FF2B5EF4-FFF2-40B4-BE49-F238E27FC236}">
                <a16:creationId xmlns:a16="http://schemas.microsoft.com/office/drawing/2014/main" id="{ED05A355-CF85-0972-9125-2C62935B3843}"/>
              </a:ext>
            </a:extLst>
          </p:cNvPr>
          <p:cNvSpPr txBox="1"/>
          <p:nvPr/>
        </p:nvSpPr>
        <p:spPr>
          <a:xfrm>
            <a:off x="11838016" y="14026827"/>
            <a:ext cx="4264152" cy="69113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3600" b="1" dirty="0">
                <a:solidFill>
                  <a:srgbClr val="0070C0"/>
                </a:solidFill>
                <a:latin typeface="STKaiti" panose="02010600040101010101" pitchFamily="2" charset="-122"/>
                <a:ea typeface="STKaiti" panose="02010600040101010101" pitchFamily="2" charset="-122"/>
              </a:rPr>
              <a:t>启发类脑智能算法</a:t>
            </a:r>
          </a:p>
        </p:txBody>
      </p:sp>
      <p:pic>
        <p:nvPicPr>
          <p:cNvPr id="102" name="Picture 101">
            <a:extLst>
              <a:ext uri="{FF2B5EF4-FFF2-40B4-BE49-F238E27FC236}">
                <a16:creationId xmlns:a16="http://schemas.microsoft.com/office/drawing/2014/main" id="{35369C90-1B82-E228-44DC-39A17BA96F1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3154838" y="14687704"/>
            <a:ext cx="2261601" cy="2261601"/>
          </a:xfrm>
          <a:prstGeom prst="rect">
            <a:avLst/>
          </a:prstGeom>
        </p:spPr>
      </p:pic>
      <p:pic>
        <p:nvPicPr>
          <p:cNvPr id="103" name="Picture 102">
            <a:extLst>
              <a:ext uri="{FF2B5EF4-FFF2-40B4-BE49-F238E27FC236}">
                <a16:creationId xmlns:a16="http://schemas.microsoft.com/office/drawing/2014/main" id="{C1B462F6-2B52-049C-482B-924D0EA2DB90}"/>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6715527" y="14687707"/>
            <a:ext cx="2261601" cy="2261601"/>
          </a:xfrm>
          <a:prstGeom prst="rect">
            <a:avLst/>
          </a:prstGeom>
        </p:spPr>
      </p:pic>
      <p:grpSp>
        <p:nvGrpSpPr>
          <p:cNvPr id="108" name="Group 107">
            <a:extLst>
              <a:ext uri="{FF2B5EF4-FFF2-40B4-BE49-F238E27FC236}">
                <a16:creationId xmlns:a16="http://schemas.microsoft.com/office/drawing/2014/main" id="{F129576B-1289-6E61-279B-2B85B5549A56}"/>
              </a:ext>
            </a:extLst>
          </p:cNvPr>
          <p:cNvGrpSpPr/>
          <p:nvPr/>
        </p:nvGrpSpPr>
        <p:grpSpPr>
          <a:xfrm>
            <a:off x="9639345" y="14687704"/>
            <a:ext cx="2261601" cy="2261601"/>
            <a:chOff x="10062369" y="14890758"/>
            <a:chExt cx="2261601" cy="2261601"/>
          </a:xfrm>
        </p:grpSpPr>
        <p:pic>
          <p:nvPicPr>
            <p:cNvPr id="101" name="Picture 100">
              <a:extLst>
                <a:ext uri="{FF2B5EF4-FFF2-40B4-BE49-F238E27FC236}">
                  <a16:creationId xmlns:a16="http://schemas.microsoft.com/office/drawing/2014/main" id="{F573BBC6-5B40-D4D0-E73E-8AFFAD76A47E}"/>
                </a:ext>
              </a:extLst>
            </p:cNvPr>
            <p:cNvPicPr>
              <a:picLocks noChangeAspect="1"/>
            </p:cNvPicPr>
            <p:nvPr/>
          </p:nvPicPr>
          <p:blipFill>
            <a:blip r:embed="rId18"/>
            <a:stretch/>
          </p:blipFill>
          <p:spPr>
            <a:xfrm>
              <a:off x="10062369" y="14890758"/>
              <a:ext cx="2261601" cy="2261601"/>
            </a:xfrm>
            <a:prstGeom prst="rect">
              <a:avLst/>
            </a:prstGeom>
          </p:spPr>
        </p:pic>
        <p:cxnSp>
          <p:nvCxnSpPr>
            <p:cNvPr id="104" name="Straight Arrow Connector 103">
              <a:extLst>
                <a:ext uri="{FF2B5EF4-FFF2-40B4-BE49-F238E27FC236}">
                  <a16:creationId xmlns:a16="http://schemas.microsoft.com/office/drawing/2014/main" id="{9AB57910-5592-FCB5-70FB-9D08C54BA9AC}"/>
                </a:ext>
              </a:extLst>
            </p:cNvPr>
            <p:cNvCxnSpPr>
              <a:cxnSpLocks/>
            </p:cNvCxnSpPr>
            <p:nvPr/>
          </p:nvCxnSpPr>
          <p:spPr>
            <a:xfrm flipV="1">
              <a:off x="11269100" y="15390740"/>
              <a:ext cx="712739" cy="556717"/>
            </a:xfrm>
            <a:prstGeom prst="straightConnector1">
              <a:avLst/>
            </a:prstGeom>
            <a:ln w="12700">
              <a:headEnd w="med" len="sm"/>
              <a:tailEnd type="triangle" w="sm" len="sm"/>
            </a:ln>
          </p:spPr>
          <p:style>
            <a:lnRef idx="2">
              <a:schemeClr val="dk1"/>
            </a:lnRef>
            <a:fillRef idx="0">
              <a:schemeClr val="dk1"/>
            </a:fillRef>
            <a:effectRef idx="1">
              <a:schemeClr val="dk1"/>
            </a:effectRef>
            <a:fontRef idx="minor">
              <a:schemeClr val="tx1"/>
            </a:fontRef>
          </p:style>
        </p:cxnSp>
        <p:cxnSp>
          <p:nvCxnSpPr>
            <p:cNvPr id="105" name="Straight Arrow Connector 104">
              <a:extLst>
                <a:ext uri="{FF2B5EF4-FFF2-40B4-BE49-F238E27FC236}">
                  <a16:creationId xmlns:a16="http://schemas.microsoft.com/office/drawing/2014/main" id="{D52ABCFB-DEC1-5729-EE31-280602ABA700}"/>
                </a:ext>
              </a:extLst>
            </p:cNvPr>
            <p:cNvCxnSpPr>
              <a:cxnSpLocks/>
            </p:cNvCxnSpPr>
            <p:nvPr/>
          </p:nvCxnSpPr>
          <p:spPr>
            <a:xfrm>
              <a:off x="11269100" y="16138938"/>
              <a:ext cx="712739" cy="556717"/>
            </a:xfrm>
            <a:prstGeom prst="straightConnector1">
              <a:avLst/>
            </a:prstGeom>
            <a:ln w="12700">
              <a:headEnd w="med" len="sm"/>
              <a:tailEnd type="triangle" w="sm" len="sm"/>
            </a:ln>
          </p:spPr>
          <p:style>
            <a:lnRef idx="2">
              <a:schemeClr val="dk1"/>
            </a:lnRef>
            <a:fillRef idx="0">
              <a:schemeClr val="dk1"/>
            </a:fillRef>
            <a:effectRef idx="1">
              <a:schemeClr val="dk1"/>
            </a:effectRef>
            <a:fontRef idx="minor">
              <a:schemeClr val="tx1"/>
            </a:fontRef>
          </p:style>
        </p:cxnSp>
      </p:grpSp>
      <p:cxnSp>
        <p:nvCxnSpPr>
          <p:cNvPr id="106" name="Straight Arrow Connector 105">
            <a:extLst>
              <a:ext uri="{FF2B5EF4-FFF2-40B4-BE49-F238E27FC236}">
                <a16:creationId xmlns:a16="http://schemas.microsoft.com/office/drawing/2014/main" id="{67C11B45-78D3-EB02-4579-D7A2D2ADC7C0}"/>
              </a:ext>
            </a:extLst>
          </p:cNvPr>
          <p:cNvCxnSpPr>
            <a:cxnSpLocks/>
          </p:cNvCxnSpPr>
          <p:nvPr/>
        </p:nvCxnSpPr>
        <p:spPr>
          <a:xfrm>
            <a:off x="12377787" y="15759952"/>
            <a:ext cx="53928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C09353F9-42BB-4BBA-7673-F66A793CEB98}"/>
              </a:ext>
            </a:extLst>
          </p:cNvPr>
          <p:cNvCxnSpPr>
            <a:cxnSpLocks/>
          </p:cNvCxnSpPr>
          <p:nvPr/>
        </p:nvCxnSpPr>
        <p:spPr>
          <a:xfrm>
            <a:off x="15773500" y="15721595"/>
            <a:ext cx="53928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79EAE4E4-AFC3-080F-3B30-05E74FB9032F}"/>
              </a:ext>
            </a:extLst>
          </p:cNvPr>
          <p:cNvCxnSpPr>
            <a:cxnSpLocks/>
          </p:cNvCxnSpPr>
          <p:nvPr/>
        </p:nvCxnSpPr>
        <p:spPr>
          <a:xfrm>
            <a:off x="8553222" y="15948360"/>
            <a:ext cx="53928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76517380-1DA2-8CA2-C845-8B5C65D589FC}"/>
              </a:ext>
            </a:extLst>
          </p:cNvPr>
          <p:cNvSpPr txBox="1"/>
          <p:nvPr/>
        </p:nvSpPr>
        <p:spPr>
          <a:xfrm>
            <a:off x="7903810" y="14987508"/>
            <a:ext cx="1838110" cy="830997"/>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cs typeface="Calibri" panose="020F0502020204030204" pitchFamily="34" charset="0"/>
              </a:rPr>
              <a:t>迁移至脉冲网络</a:t>
            </a:r>
          </a:p>
        </p:txBody>
      </p:sp>
      <p:sp>
        <p:nvSpPr>
          <p:cNvPr id="113" name="TextBox 112">
            <a:extLst>
              <a:ext uri="{FF2B5EF4-FFF2-40B4-BE49-F238E27FC236}">
                <a16:creationId xmlns:a16="http://schemas.microsoft.com/office/drawing/2014/main" id="{B17826B7-C4F0-6D41-8883-BCC90AF12FBA}"/>
              </a:ext>
            </a:extLst>
          </p:cNvPr>
          <p:cNvSpPr txBox="1"/>
          <p:nvPr/>
        </p:nvSpPr>
        <p:spPr>
          <a:xfrm>
            <a:off x="11833793" y="15166233"/>
            <a:ext cx="1433394" cy="461665"/>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cs typeface="Calibri" panose="020F0502020204030204" pitchFamily="34" charset="0"/>
              </a:rPr>
              <a:t>仿真模拟</a:t>
            </a:r>
          </a:p>
        </p:txBody>
      </p:sp>
      <p:sp>
        <p:nvSpPr>
          <p:cNvPr id="114" name="TextBox 113">
            <a:extLst>
              <a:ext uri="{FF2B5EF4-FFF2-40B4-BE49-F238E27FC236}">
                <a16:creationId xmlns:a16="http://schemas.microsoft.com/office/drawing/2014/main" id="{ACB79E9D-41CE-7439-487B-583EB4925805}"/>
              </a:ext>
            </a:extLst>
          </p:cNvPr>
          <p:cNvSpPr txBox="1"/>
          <p:nvPr/>
        </p:nvSpPr>
        <p:spPr>
          <a:xfrm>
            <a:off x="15312413" y="14829057"/>
            <a:ext cx="1433394" cy="830997"/>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cs typeface="Calibri" panose="020F0502020204030204" pitchFamily="34" charset="0"/>
              </a:rPr>
              <a:t>具身智能验证</a:t>
            </a:r>
          </a:p>
        </p:txBody>
      </p:sp>
      <p:grpSp>
        <p:nvGrpSpPr>
          <p:cNvPr id="155" name="Group 154">
            <a:extLst>
              <a:ext uri="{FF2B5EF4-FFF2-40B4-BE49-F238E27FC236}">
                <a16:creationId xmlns:a16="http://schemas.microsoft.com/office/drawing/2014/main" id="{D5612859-F76D-2B1C-6667-0F30AC321927}"/>
              </a:ext>
            </a:extLst>
          </p:cNvPr>
          <p:cNvGrpSpPr/>
          <p:nvPr/>
        </p:nvGrpSpPr>
        <p:grpSpPr>
          <a:xfrm>
            <a:off x="246700" y="13436484"/>
            <a:ext cx="3290337" cy="3747796"/>
            <a:chOff x="826525" y="13195985"/>
            <a:chExt cx="4044612" cy="4240273"/>
          </a:xfrm>
        </p:grpSpPr>
        <p:grpSp>
          <p:nvGrpSpPr>
            <p:cNvPr id="117" name="Group 116">
              <a:extLst>
                <a:ext uri="{FF2B5EF4-FFF2-40B4-BE49-F238E27FC236}">
                  <a16:creationId xmlns:a16="http://schemas.microsoft.com/office/drawing/2014/main" id="{EAAD5D12-0B0F-2859-0ECF-04EE18D50EF9}"/>
                </a:ext>
              </a:extLst>
            </p:cNvPr>
            <p:cNvGrpSpPr/>
            <p:nvPr/>
          </p:nvGrpSpPr>
          <p:grpSpPr>
            <a:xfrm>
              <a:off x="826525" y="13195985"/>
              <a:ext cx="4044612" cy="3412564"/>
              <a:chOff x="746843" y="2496412"/>
              <a:chExt cx="4044612" cy="2749249"/>
            </a:xfrm>
          </p:grpSpPr>
          <p:grpSp>
            <p:nvGrpSpPr>
              <p:cNvPr id="118" name="Group 117">
                <a:extLst>
                  <a:ext uri="{FF2B5EF4-FFF2-40B4-BE49-F238E27FC236}">
                    <a16:creationId xmlns:a16="http://schemas.microsoft.com/office/drawing/2014/main" id="{F9079C08-4729-9594-F22E-C2874CBEEA11}"/>
                  </a:ext>
                </a:extLst>
              </p:cNvPr>
              <p:cNvGrpSpPr/>
              <p:nvPr/>
            </p:nvGrpSpPr>
            <p:grpSpPr>
              <a:xfrm>
                <a:off x="746843" y="2496412"/>
                <a:ext cx="4044612" cy="2749249"/>
                <a:chOff x="11383834" y="4264074"/>
                <a:chExt cx="4044612" cy="3056968"/>
              </a:xfrm>
            </p:grpSpPr>
            <p:cxnSp>
              <p:nvCxnSpPr>
                <p:cNvPr id="121" name="Straight Arrow Connector 120">
                  <a:extLst>
                    <a:ext uri="{FF2B5EF4-FFF2-40B4-BE49-F238E27FC236}">
                      <a16:creationId xmlns:a16="http://schemas.microsoft.com/office/drawing/2014/main" id="{5E97EAEE-63BB-B572-40D4-ECEDE6437784}"/>
                    </a:ext>
                  </a:extLst>
                </p:cNvPr>
                <p:cNvCxnSpPr>
                  <a:cxnSpLocks/>
                </p:cNvCxnSpPr>
                <p:nvPr/>
              </p:nvCxnSpPr>
              <p:spPr>
                <a:xfrm flipV="1">
                  <a:off x="11652949" y="6398126"/>
                  <a:ext cx="2640741" cy="49226"/>
                </a:xfrm>
                <a:prstGeom prst="straightConnector1">
                  <a:avLst/>
                </a:prstGeom>
                <a:ln w="381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AD310E1-A641-600B-1495-F1A6228CD2E9}"/>
                    </a:ext>
                  </a:extLst>
                </p:cNvPr>
                <p:cNvCxnSpPr>
                  <a:cxnSpLocks/>
                  <a:endCxn id="144" idx="1"/>
                </p:cNvCxnSpPr>
                <p:nvPr/>
              </p:nvCxnSpPr>
              <p:spPr>
                <a:xfrm flipV="1">
                  <a:off x="11652949" y="6293559"/>
                  <a:ext cx="1729000" cy="153793"/>
                </a:xfrm>
                <a:prstGeom prst="straightConnector1">
                  <a:avLst/>
                </a:prstGeom>
                <a:ln w="635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D2AC9ADA-02ED-DD15-0292-87C00DDD2605}"/>
                    </a:ext>
                  </a:extLst>
                </p:cNvPr>
                <p:cNvCxnSpPr>
                  <a:cxnSpLocks/>
                </p:cNvCxnSpPr>
                <p:nvPr/>
              </p:nvCxnSpPr>
              <p:spPr>
                <a:xfrm flipH="1" flipV="1">
                  <a:off x="13602455" y="5453446"/>
                  <a:ext cx="1466066" cy="125779"/>
                </a:xfrm>
                <a:prstGeom prst="straightConnector1">
                  <a:avLst/>
                </a:prstGeom>
                <a:ln w="635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A8487B16-66B9-C351-4AA0-B1B1252EEA99}"/>
                    </a:ext>
                  </a:extLst>
                </p:cNvPr>
                <p:cNvCxnSpPr>
                  <a:cxnSpLocks/>
                </p:cNvCxnSpPr>
                <p:nvPr/>
              </p:nvCxnSpPr>
              <p:spPr>
                <a:xfrm flipH="1">
                  <a:off x="12601135" y="5603235"/>
                  <a:ext cx="2474798" cy="160269"/>
                </a:xfrm>
                <a:prstGeom prst="straightConnector1">
                  <a:avLst/>
                </a:prstGeom>
                <a:ln w="381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125" name="Straight Arrow Connector 124">
                  <a:extLst>
                    <a:ext uri="{FF2B5EF4-FFF2-40B4-BE49-F238E27FC236}">
                      <a16:creationId xmlns:a16="http://schemas.microsoft.com/office/drawing/2014/main" id="{F07D0E0C-FBF9-02F2-E458-0C79AE410E83}"/>
                    </a:ext>
                  </a:extLst>
                </p:cNvPr>
                <p:cNvCxnSpPr>
                  <a:cxnSpLocks/>
                </p:cNvCxnSpPr>
                <p:nvPr/>
              </p:nvCxnSpPr>
              <p:spPr>
                <a:xfrm flipH="1" flipV="1">
                  <a:off x="14523739" y="5303657"/>
                  <a:ext cx="552194" cy="299578"/>
                </a:xfrm>
                <a:prstGeom prst="straightConnector1">
                  <a:avLst/>
                </a:prstGeom>
                <a:ln w="88900">
                  <a:solidFill>
                    <a:srgbClr val="66BC45"/>
                  </a:solidFill>
                  <a:tailEnd type="oval"/>
                </a:ln>
              </p:spPr>
              <p:style>
                <a:lnRef idx="2">
                  <a:schemeClr val="accent1"/>
                </a:lnRef>
                <a:fillRef idx="0">
                  <a:schemeClr val="accent1"/>
                </a:fillRef>
                <a:effectRef idx="1">
                  <a:schemeClr val="accent1"/>
                </a:effectRef>
                <a:fontRef idx="minor">
                  <a:schemeClr val="tx1"/>
                </a:fontRef>
              </p:style>
            </p:cxnSp>
            <p:sp>
              <p:nvSpPr>
                <p:cNvPr id="126" name="Freeform: Shape 125">
                  <a:extLst>
                    <a:ext uri="{FF2B5EF4-FFF2-40B4-BE49-F238E27FC236}">
                      <a16:creationId xmlns:a16="http://schemas.microsoft.com/office/drawing/2014/main" id="{6606BBD2-6138-9EA2-31DB-CB27AE143639}"/>
                    </a:ext>
                  </a:extLst>
                </p:cNvPr>
                <p:cNvSpPr/>
                <p:nvPr/>
              </p:nvSpPr>
              <p:spPr>
                <a:xfrm>
                  <a:off x="13411021" y="5803196"/>
                  <a:ext cx="1852833" cy="1276604"/>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 name="connsiteX0" fmla="*/ 0 w 1290777"/>
                    <a:gd name="connsiteY0" fmla="*/ 1612490 h 1612490"/>
                    <a:gd name="connsiteX1" fmla="*/ 1112248 w 1290777"/>
                    <a:gd name="connsiteY1" fmla="*/ 1420329 h 1612490"/>
                    <a:gd name="connsiteX2" fmla="*/ 1288026 w 1290777"/>
                    <a:gd name="connsiteY2" fmla="*/ 0 h 1612490"/>
                    <a:gd name="connsiteX3" fmla="*/ 1288026 w 1290777"/>
                    <a:gd name="connsiteY3" fmla="*/ 0 h 1612490"/>
                    <a:gd name="connsiteX0" fmla="*/ 0 w 1290777"/>
                    <a:gd name="connsiteY0" fmla="*/ 1612490 h 1645997"/>
                    <a:gd name="connsiteX1" fmla="*/ 1112248 w 1290777"/>
                    <a:gd name="connsiteY1" fmla="*/ 1420329 h 1645997"/>
                    <a:gd name="connsiteX2" fmla="*/ 1288026 w 1290777"/>
                    <a:gd name="connsiteY2" fmla="*/ 0 h 1645997"/>
                    <a:gd name="connsiteX3" fmla="*/ 1288026 w 1290777"/>
                    <a:gd name="connsiteY3" fmla="*/ 0 h 1645997"/>
                    <a:gd name="connsiteX0" fmla="*/ 0 w 1290777"/>
                    <a:gd name="connsiteY0" fmla="*/ 1612490 h 1620190"/>
                    <a:gd name="connsiteX1" fmla="*/ 1112248 w 1290777"/>
                    <a:gd name="connsiteY1" fmla="*/ 1420329 h 1620190"/>
                    <a:gd name="connsiteX2" fmla="*/ 1288026 w 1290777"/>
                    <a:gd name="connsiteY2" fmla="*/ 0 h 1620190"/>
                    <a:gd name="connsiteX3" fmla="*/ 1288026 w 1290777"/>
                    <a:gd name="connsiteY3" fmla="*/ 0 h 1620190"/>
                    <a:gd name="connsiteX0" fmla="*/ 0 w 1290069"/>
                    <a:gd name="connsiteY0" fmla="*/ 1612490 h 1612490"/>
                    <a:gd name="connsiteX1" fmla="*/ 1107872 w 1290069"/>
                    <a:gd name="connsiteY1" fmla="*/ 1344564 h 1612490"/>
                    <a:gd name="connsiteX2" fmla="*/ 1288026 w 1290069"/>
                    <a:gd name="connsiteY2" fmla="*/ 0 h 1612490"/>
                    <a:gd name="connsiteX3" fmla="*/ 1288026 w 1290069"/>
                    <a:gd name="connsiteY3" fmla="*/ 0 h 1612490"/>
                  </a:gdLst>
                  <a:ahLst/>
                  <a:cxnLst>
                    <a:cxn ang="0">
                      <a:pos x="connsiteX0" y="connsiteY0"/>
                    </a:cxn>
                    <a:cxn ang="0">
                      <a:pos x="connsiteX1" y="connsiteY1"/>
                    </a:cxn>
                    <a:cxn ang="0">
                      <a:pos x="connsiteX2" y="connsiteY2"/>
                    </a:cxn>
                    <a:cxn ang="0">
                      <a:pos x="connsiteX3" y="connsiteY3"/>
                    </a:cxn>
                  </a:cxnLst>
                  <a:rect l="l" t="t" r="r" b="b"/>
                  <a:pathLst>
                    <a:path w="1290069" h="1612490">
                      <a:moveTo>
                        <a:pt x="0" y="1612490"/>
                      </a:moveTo>
                      <a:cubicBezTo>
                        <a:pt x="479426" y="1607072"/>
                        <a:pt x="893201" y="1613312"/>
                        <a:pt x="1107872" y="1344564"/>
                      </a:cubicBezTo>
                      <a:cubicBezTo>
                        <a:pt x="1322543" y="1075816"/>
                        <a:pt x="1288026" y="0"/>
                        <a:pt x="1288026" y="0"/>
                      </a:cubicBezTo>
                      <a:lnTo>
                        <a:pt x="1288026" y="0"/>
                      </a:lnTo>
                    </a:path>
                  </a:pathLst>
                </a:custGeom>
                <a:noFill/>
                <a:ln w="76200">
                  <a:solidFill>
                    <a:srgbClr val="FAA514"/>
                  </a:solidFill>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Calibri" panose="020F0502020204030204" pitchFamily="34" charset="0"/>
                    <a:ea typeface="Calibri" panose="020F0502020204030204" pitchFamily="34" charset="0"/>
                    <a:cs typeface="Calibri" panose="020F0502020204030204" pitchFamily="34" charset="0"/>
                  </a:endParaRPr>
                </a:p>
              </p:txBody>
            </p:sp>
            <p:cxnSp>
              <p:nvCxnSpPr>
                <p:cNvPr id="127" name="Straight Arrow Connector 126">
                  <a:extLst>
                    <a:ext uri="{FF2B5EF4-FFF2-40B4-BE49-F238E27FC236}">
                      <a16:creationId xmlns:a16="http://schemas.microsoft.com/office/drawing/2014/main" id="{763DCFC5-CD81-49F5-E969-D530C7363A61}"/>
                    </a:ext>
                  </a:extLst>
                </p:cNvPr>
                <p:cNvCxnSpPr>
                  <a:cxnSpLocks/>
                </p:cNvCxnSpPr>
                <p:nvPr/>
              </p:nvCxnSpPr>
              <p:spPr>
                <a:xfrm flipV="1">
                  <a:off x="11652949" y="6184766"/>
                  <a:ext cx="738220" cy="262586"/>
                </a:xfrm>
                <a:prstGeom prst="straightConnector1">
                  <a:avLst/>
                </a:prstGeom>
                <a:ln w="88900">
                  <a:solidFill>
                    <a:srgbClr val="66BC45"/>
                  </a:solidFill>
                  <a:tailEnd type="oval"/>
                </a:ln>
              </p:spPr>
              <p:style>
                <a:lnRef idx="2">
                  <a:schemeClr val="accent1"/>
                </a:lnRef>
                <a:fillRef idx="0">
                  <a:schemeClr val="accent1"/>
                </a:fillRef>
                <a:effectRef idx="1">
                  <a:schemeClr val="accent1"/>
                </a:effectRef>
                <a:fontRef idx="minor">
                  <a:schemeClr val="tx1"/>
                </a:fontRef>
              </p:style>
            </p:cxnSp>
            <p:sp>
              <p:nvSpPr>
                <p:cNvPr id="128" name="Freeform: Shape 127">
                  <a:extLst>
                    <a:ext uri="{FF2B5EF4-FFF2-40B4-BE49-F238E27FC236}">
                      <a16:creationId xmlns:a16="http://schemas.microsoft.com/office/drawing/2014/main" id="{D864361B-C895-3E66-2A53-555994370130}"/>
                    </a:ext>
                  </a:extLst>
                </p:cNvPr>
                <p:cNvSpPr/>
                <p:nvPr/>
              </p:nvSpPr>
              <p:spPr>
                <a:xfrm rot="10800000">
                  <a:off x="12467606" y="4459724"/>
                  <a:ext cx="1547785" cy="600186"/>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381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129" name="Freeform: Shape 128">
                  <a:extLst>
                    <a:ext uri="{FF2B5EF4-FFF2-40B4-BE49-F238E27FC236}">
                      <a16:creationId xmlns:a16="http://schemas.microsoft.com/office/drawing/2014/main" id="{42826B55-C83D-0BD0-CF83-65ED78D48203}"/>
                    </a:ext>
                  </a:extLst>
                </p:cNvPr>
                <p:cNvSpPr/>
                <p:nvPr/>
              </p:nvSpPr>
              <p:spPr>
                <a:xfrm flipH="1">
                  <a:off x="12477505" y="6533707"/>
                  <a:ext cx="435227" cy="510671"/>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88900">
                  <a:solidFill>
                    <a:srgbClr val="FAA514"/>
                  </a:solidFill>
                  <a:headEnd type="none" w="med" len="med"/>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30" name="Freeform: Shape 129">
                  <a:extLst>
                    <a:ext uri="{FF2B5EF4-FFF2-40B4-BE49-F238E27FC236}">
                      <a16:creationId xmlns:a16="http://schemas.microsoft.com/office/drawing/2014/main" id="{34F135EE-80FA-EF18-1BCC-9683A00CCFB6}"/>
                    </a:ext>
                  </a:extLst>
                </p:cNvPr>
                <p:cNvSpPr/>
                <p:nvPr/>
              </p:nvSpPr>
              <p:spPr>
                <a:xfrm>
                  <a:off x="12957292" y="6523701"/>
                  <a:ext cx="1514836" cy="541382"/>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38100">
                  <a:solidFill>
                    <a:srgbClr val="FAA514"/>
                  </a:solidFill>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131" name="Freeform: Shape 130">
                  <a:extLst>
                    <a:ext uri="{FF2B5EF4-FFF2-40B4-BE49-F238E27FC236}">
                      <a16:creationId xmlns:a16="http://schemas.microsoft.com/office/drawing/2014/main" id="{24092823-251B-08BB-F49D-C6BA3B73D4D2}"/>
                    </a:ext>
                  </a:extLst>
                </p:cNvPr>
                <p:cNvSpPr/>
                <p:nvPr/>
              </p:nvSpPr>
              <p:spPr>
                <a:xfrm>
                  <a:off x="12833439" y="6510183"/>
                  <a:ext cx="640009" cy="552407"/>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63500">
                  <a:solidFill>
                    <a:srgbClr val="FAA514"/>
                  </a:solidFill>
                  <a:headEnd type="none" w="med" len="med"/>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32" name="Freeform: Shape 131">
                  <a:extLst>
                    <a:ext uri="{FF2B5EF4-FFF2-40B4-BE49-F238E27FC236}">
                      <a16:creationId xmlns:a16="http://schemas.microsoft.com/office/drawing/2014/main" id="{C81B4176-28BC-E5EF-CB21-3C498AF576DF}"/>
                    </a:ext>
                  </a:extLst>
                </p:cNvPr>
                <p:cNvSpPr/>
                <p:nvPr/>
              </p:nvSpPr>
              <p:spPr>
                <a:xfrm rot="10800000">
                  <a:off x="13473449" y="4404133"/>
                  <a:ext cx="568464" cy="652521"/>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635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133" name="Freeform: Shape 132">
                  <a:extLst>
                    <a:ext uri="{FF2B5EF4-FFF2-40B4-BE49-F238E27FC236}">
                      <a16:creationId xmlns:a16="http://schemas.microsoft.com/office/drawing/2014/main" id="{BC025162-3C72-4100-D799-DED9F0D820F0}"/>
                    </a:ext>
                  </a:extLst>
                </p:cNvPr>
                <p:cNvSpPr/>
                <p:nvPr/>
              </p:nvSpPr>
              <p:spPr>
                <a:xfrm rot="10800000" flipH="1">
                  <a:off x="14015394" y="4410051"/>
                  <a:ext cx="402936" cy="645798"/>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889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134" name="Google Shape;280;p4">
                  <a:extLst>
                    <a:ext uri="{FF2B5EF4-FFF2-40B4-BE49-F238E27FC236}">
                      <a16:creationId xmlns:a16="http://schemas.microsoft.com/office/drawing/2014/main" id="{FC869262-7EC0-D1F8-73AF-5579AFC6833B}"/>
                    </a:ext>
                  </a:extLst>
                </p:cNvPr>
                <p:cNvSpPr txBox="1"/>
                <p:nvPr/>
              </p:nvSpPr>
              <p:spPr>
                <a:xfrm>
                  <a:off x="12007747" y="7001339"/>
                  <a:ext cx="1872023" cy="319703"/>
                </a:xfrm>
                <a:prstGeom prst="rect">
                  <a:avLst/>
                </a:prstGeom>
                <a:solidFill>
                  <a:schemeClr val="bg1"/>
                </a:solidFill>
                <a:ln>
                  <a:solidFill>
                    <a:schemeClr val="tx1"/>
                  </a:solidFill>
                </a:ln>
              </p:spPr>
              <p:txBody>
                <a:bodyPr spcFirstLastPara="1" wrap="square" lIns="68569" tIns="34275" rIns="68569" bIns="34275" anchor="t" anchorCtr="0">
                  <a:spAutoFit/>
                </a:bodyPr>
                <a:lstStyle/>
                <a:p>
                  <a:pPr algn="ctr"/>
                  <a:r>
                    <a:rPr lang="zh-CN" altLang="en-US" sz="1600" dirty="0">
                      <a:latin typeface="STKaiti" panose="02010600040101010101" pitchFamily="2" charset="-122"/>
                      <a:ea typeface="STKaiti" panose="02010600040101010101" pitchFamily="2" charset="-122"/>
                    </a:rPr>
                    <a:t>刺激 </a:t>
                  </a:r>
                  <a:r>
                    <a:rPr lang="en-US" altLang="zh-CN" sz="1600" dirty="0">
                      <a:latin typeface="STKaiti" panose="02010600040101010101" pitchFamily="2" charset="-122"/>
                      <a:ea typeface="STKaiti" panose="02010600040101010101" pitchFamily="2" charset="-122"/>
                    </a:rPr>
                    <a:t>(</a:t>
                  </a:r>
                  <a:r>
                    <a:rPr lang="en-US" sz="1600" dirty="0">
                      <a:solidFill>
                        <a:schemeClr val="dk1"/>
                      </a:solidFill>
                      <a:latin typeface="STKaiti" panose="02010600040101010101" pitchFamily="2" charset="-122"/>
                      <a:ea typeface="STKaiti" panose="02010600040101010101" pitchFamily="2" charset="-122"/>
                      <a:cs typeface="Calibri" panose="020F0502020204030204" pitchFamily="34" charset="0"/>
                      <a:sym typeface="EB Garamond"/>
                    </a:rPr>
                    <a:t>Stimulus)</a:t>
                  </a:r>
                  <a:endParaRPr sz="1600" dirty="0">
                    <a:latin typeface="STKaiti" panose="02010600040101010101" pitchFamily="2" charset="-122"/>
                    <a:ea typeface="STKaiti" panose="02010600040101010101" pitchFamily="2" charset="-122"/>
                    <a:cs typeface="Calibri" panose="020F0502020204030204" pitchFamily="34" charset="0"/>
                  </a:endParaRPr>
                </a:p>
              </p:txBody>
            </p:sp>
            <p:sp>
              <p:nvSpPr>
                <p:cNvPr id="135" name="Freeform: Shape 134">
                  <a:extLst>
                    <a:ext uri="{FF2B5EF4-FFF2-40B4-BE49-F238E27FC236}">
                      <a16:creationId xmlns:a16="http://schemas.microsoft.com/office/drawing/2014/main" id="{8A11AF1F-8826-ACC6-A59C-69CCEEFD2455}"/>
                    </a:ext>
                  </a:extLst>
                </p:cNvPr>
                <p:cNvSpPr/>
                <p:nvPr/>
              </p:nvSpPr>
              <p:spPr>
                <a:xfrm rot="10800000">
                  <a:off x="11632414" y="4463889"/>
                  <a:ext cx="2361555" cy="1695226"/>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 name="connsiteX0" fmla="*/ 0 w 1288026"/>
                    <a:gd name="connsiteY0" fmla="*/ 1612490 h 1612490"/>
                    <a:gd name="connsiteX1" fmla="*/ 1068448 w 1288026"/>
                    <a:gd name="connsiteY1" fmla="*/ 1207903 h 1612490"/>
                    <a:gd name="connsiteX2" fmla="*/ 1288026 w 1288026"/>
                    <a:gd name="connsiteY2" fmla="*/ 0 h 1612490"/>
                    <a:gd name="connsiteX3" fmla="*/ 1288026 w 1288026"/>
                    <a:gd name="connsiteY3" fmla="*/ 0 h 1612490"/>
                    <a:gd name="connsiteX0" fmla="*/ 0 w 1288026"/>
                    <a:gd name="connsiteY0" fmla="*/ 1612490 h 1612490"/>
                    <a:gd name="connsiteX1" fmla="*/ 523975 w 1288026"/>
                    <a:gd name="connsiteY1" fmla="*/ 1468801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554547 w 1288026"/>
                    <a:gd name="connsiteY2" fmla="*/ 1551896 h 1612490"/>
                    <a:gd name="connsiteX3" fmla="*/ 1147195 w 1288026"/>
                    <a:gd name="connsiteY3" fmla="*/ 1245993 h 1612490"/>
                    <a:gd name="connsiteX4" fmla="*/ 1288026 w 1288026"/>
                    <a:gd name="connsiteY4" fmla="*/ 0 h 1612490"/>
                    <a:gd name="connsiteX5" fmla="*/ 1288026 w 1288026"/>
                    <a:gd name="connsiteY5" fmla="*/ 0 h 1612490"/>
                    <a:gd name="connsiteX0" fmla="*/ 0 w 1288026"/>
                    <a:gd name="connsiteY0" fmla="*/ 1612490 h 1612490"/>
                    <a:gd name="connsiteX1" fmla="*/ 542738 w 1288026"/>
                    <a:gd name="connsiteY1" fmla="*/ 1524754 h 1612490"/>
                    <a:gd name="connsiteX2" fmla="*/ 554547 w 1288026"/>
                    <a:gd name="connsiteY2" fmla="*/ 1551896 h 1612490"/>
                    <a:gd name="connsiteX3" fmla="*/ 1147195 w 1288026"/>
                    <a:gd name="connsiteY3" fmla="*/ 1245993 h 1612490"/>
                    <a:gd name="connsiteX4" fmla="*/ 1288026 w 1288026"/>
                    <a:gd name="connsiteY4" fmla="*/ 0 h 1612490"/>
                    <a:gd name="connsiteX5" fmla="*/ 1288026 w 1288026"/>
                    <a:gd name="connsiteY5"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8207 w 1288026"/>
                    <a:gd name="connsiteY1" fmla="*/ 154260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8207 w 1288026"/>
                    <a:gd name="connsiteY1" fmla="*/ 1542607 h 1612490"/>
                    <a:gd name="connsiteX2" fmla="*/ 1147195 w 1288026"/>
                    <a:gd name="connsiteY2" fmla="*/ 1245993 h 1612490"/>
                    <a:gd name="connsiteX3" fmla="*/ 1288026 w 1288026"/>
                    <a:gd name="connsiteY3" fmla="*/ 0 h 1612490"/>
                    <a:gd name="connsiteX4" fmla="*/ 1288026 w 1288026"/>
                    <a:gd name="connsiteY4" fmla="*/ 0 h 1612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026" h="1612490">
                      <a:moveTo>
                        <a:pt x="0" y="1612490"/>
                      </a:moveTo>
                      <a:cubicBezTo>
                        <a:pt x="87329" y="1588542"/>
                        <a:pt x="351728" y="1566420"/>
                        <a:pt x="548207" y="1542607"/>
                      </a:cubicBezTo>
                      <a:cubicBezTo>
                        <a:pt x="769484" y="1508307"/>
                        <a:pt x="1023892" y="1503094"/>
                        <a:pt x="1147195" y="1245993"/>
                      </a:cubicBezTo>
                      <a:cubicBezTo>
                        <a:pt x="1270498" y="988892"/>
                        <a:pt x="1288026" y="0"/>
                        <a:pt x="1288026" y="0"/>
                      </a:cubicBezTo>
                      <a:lnTo>
                        <a:pt x="1288026" y="0"/>
                      </a:lnTo>
                    </a:path>
                  </a:pathLst>
                </a:custGeom>
                <a:noFill/>
                <a:ln w="762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ea typeface="Calibri" panose="020F0502020204030204" pitchFamily="34" charset="0"/>
                    <a:cs typeface="Calibri" panose="020F0502020204030204" pitchFamily="34" charset="0"/>
                  </a:endParaRPr>
                </a:p>
              </p:txBody>
            </p:sp>
            <p:grpSp>
              <p:nvGrpSpPr>
                <p:cNvPr id="136" name="Group 135">
                  <a:extLst>
                    <a:ext uri="{FF2B5EF4-FFF2-40B4-BE49-F238E27FC236}">
                      <a16:creationId xmlns:a16="http://schemas.microsoft.com/office/drawing/2014/main" id="{7199A921-D53B-CD20-4579-D81ED92CB99D}"/>
                    </a:ext>
                  </a:extLst>
                </p:cNvPr>
                <p:cNvGrpSpPr/>
                <p:nvPr/>
              </p:nvGrpSpPr>
              <p:grpSpPr>
                <a:xfrm>
                  <a:off x="14268809" y="5098751"/>
                  <a:ext cx="327236" cy="1411432"/>
                  <a:chOff x="4203691" y="4546456"/>
                  <a:chExt cx="327236" cy="1411432"/>
                </a:xfrm>
              </p:grpSpPr>
              <p:sp>
                <p:nvSpPr>
                  <p:cNvPr id="146" name="Google Shape;259;p4">
                    <a:extLst>
                      <a:ext uri="{FF2B5EF4-FFF2-40B4-BE49-F238E27FC236}">
                        <a16:creationId xmlns:a16="http://schemas.microsoft.com/office/drawing/2014/main" id="{E34AB960-28A0-943C-7307-8B6294B50FB8}"/>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147" name="Google Shape;260;p4">
                    <a:extLst>
                      <a:ext uri="{FF2B5EF4-FFF2-40B4-BE49-F238E27FC236}">
                        <a16:creationId xmlns:a16="http://schemas.microsoft.com/office/drawing/2014/main" id="{8B626434-F87F-9F4F-BEF7-4E48C07F882D}"/>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sp>
              <p:nvSpPr>
                <p:cNvPr id="137" name="Google Shape;280;p4">
                  <a:extLst>
                    <a:ext uri="{FF2B5EF4-FFF2-40B4-BE49-F238E27FC236}">
                      <a16:creationId xmlns:a16="http://schemas.microsoft.com/office/drawing/2014/main" id="{471391B0-1A9E-0E29-2020-8250FFD0E27E}"/>
                    </a:ext>
                  </a:extLst>
                </p:cNvPr>
                <p:cNvSpPr txBox="1"/>
                <p:nvPr/>
              </p:nvSpPr>
              <p:spPr>
                <a:xfrm>
                  <a:off x="13401492" y="4264074"/>
                  <a:ext cx="2013234" cy="319703"/>
                </a:xfrm>
                <a:prstGeom prst="rect">
                  <a:avLst/>
                </a:prstGeom>
                <a:solidFill>
                  <a:schemeClr val="bg1"/>
                </a:solidFill>
                <a:ln>
                  <a:solidFill>
                    <a:schemeClr val="tx1"/>
                  </a:solidFill>
                </a:ln>
              </p:spPr>
              <p:txBody>
                <a:bodyPr spcFirstLastPara="1" wrap="square" lIns="68569" tIns="34275" rIns="68569" bIns="34275" anchor="t" anchorCtr="0">
                  <a:spAutoFit/>
                </a:bodyPr>
                <a:lstStyle/>
                <a:p>
                  <a:pPr algn="ctr"/>
                  <a:r>
                    <a:rPr lang="zh-CN" altLang="en-US" sz="1600" dirty="0">
                      <a:latin typeface="STKaiti" panose="02010600040101010101" pitchFamily="2" charset="-122"/>
                      <a:ea typeface="STKaiti" panose="02010600040101010101" pitchFamily="2" charset="-122"/>
                    </a:rPr>
                    <a:t>预测 </a:t>
                  </a:r>
                  <a:r>
                    <a:rPr lang="en-US" altLang="zh-CN" sz="1600" dirty="0">
                      <a:latin typeface="STKaiti" panose="02010600040101010101" pitchFamily="2" charset="-122"/>
                      <a:ea typeface="STKaiti" panose="02010600040101010101" pitchFamily="2" charset="-122"/>
                    </a:rPr>
                    <a:t>(</a:t>
                  </a:r>
                  <a:r>
                    <a:rPr lang="en-US" sz="1600" dirty="0">
                      <a:solidFill>
                        <a:schemeClr val="dk1"/>
                      </a:solidFill>
                      <a:latin typeface="STKaiti" panose="02010600040101010101" pitchFamily="2" charset="-122"/>
                      <a:ea typeface="STKaiti" panose="02010600040101010101" pitchFamily="2" charset="-122"/>
                      <a:cs typeface="Calibri" panose="020F0502020204030204" pitchFamily="34" charset="0"/>
                      <a:sym typeface="EB Garamond"/>
                    </a:rPr>
                    <a:t>Prediction)</a:t>
                  </a:r>
                  <a:endParaRPr sz="1600" dirty="0">
                    <a:latin typeface="STKaiti" panose="02010600040101010101" pitchFamily="2" charset="-122"/>
                    <a:ea typeface="STKaiti" panose="02010600040101010101" pitchFamily="2" charset="-122"/>
                    <a:cs typeface="Calibri" panose="020F0502020204030204" pitchFamily="34" charset="0"/>
                  </a:endParaRPr>
                </a:p>
              </p:txBody>
            </p:sp>
            <p:grpSp>
              <p:nvGrpSpPr>
                <p:cNvPr id="138" name="Group 137">
                  <a:extLst>
                    <a:ext uri="{FF2B5EF4-FFF2-40B4-BE49-F238E27FC236}">
                      <a16:creationId xmlns:a16="http://schemas.microsoft.com/office/drawing/2014/main" id="{6213355E-FE96-A7E3-F567-647AD58F65C7}"/>
                    </a:ext>
                  </a:extLst>
                </p:cNvPr>
                <p:cNvGrpSpPr/>
                <p:nvPr/>
              </p:nvGrpSpPr>
              <p:grpSpPr>
                <a:xfrm>
                  <a:off x="13300140" y="5098751"/>
                  <a:ext cx="327236" cy="1411432"/>
                  <a:chOff x="4203691" y="4546456"/>
                  <a:chExt cx="327236" cy="1411432"/>
                </a:xfrm>
              </p:grpSpPr>
              <p:sp>
                <p:nvSpPr>
                  <p:cNvPr id="144" name="Google Shape;259;p4">
                    <a:extLst>
                      <a:ext uri="{FF2B5EF4-FFF2-40B4-BE49-F238E27FC236}">
                        <a16:creationId xmlns:a16="http://schemas.microsoft.com/office/drawing/2014/main" id="{686B6121-95F2-6CF8-7E8A-A3FBAAD65EF4}"/>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145" name="Google Shape;260;p4">
                    <a:extLst>
                      <a:ext uri="{FF2B5EF4-FFF2-40B4-BE49-F238E27FC236}">
                        <a16:creationId xmlns:a16="http://schemas.microsoft.com/office/drawing/2014/main" id="{D3FDCB9B-0372-325B-3F8F-0BB5539BFB17}"/>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grpSp>
              <p:nvGrpSpPr>
                <p:cNvPr id="139" name="Group 138">
                  <a:extLst>
                    <a:ext uri="{FF2B5EF4-FFF2-40B4-BE49-F238E27FC236}">
                      <a16:creationId xmlns:a16="http://schemas.microsoft.com/office/drawing/2014/main" id="{30A137AE-FF94-5D76-B0D5-FCF34D71D77B}"/>
                    </a:ext>
                  </a:extLst>
                </p:cNvPr>
                <p:cNvGrpSpPr/>
                <p:nvPr/>
              </p:nvGrpSpPr>
              <p:grpSpPr>
                <a:xfrm>
                  <a:off x="12331470" y="5098751"/>
                  <a:ext cx="327236" cy="1411432"/>
                  <a:chOff x="4203691" y="4546456"/>
                  <a:chExt cx="327236" cy="1411432"/>
                </a:xfrm>
              </p:grpSpPr>
              <p:sp>
                <p:nvSpPr>
                  <p:cNvPr id="142" name="Google Shape;259;p4">
                    <a:extLst>
                      <a:ext uri="{FF2B5EF4-FFF2-40B4-BE49-F238E27FC236}">
                        <a16:creationId xmlns:a16="http://schemas.microsoft.com/office/drawing/2014/main" id="{30B0D862-CB32-8DF3-4D9A-F43CF75FA051}"/>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143" name="Google Shape;260;p4">
                    <a:extLst>
                      <a:ext uri="{FF2B5EF4-FFF2-40B4-BE49-F238E27FC236}">
                        <a16:creationId xmlns:a16="http://schemas.microsoft.com/office/drawing/2014/main" id="{60CB09AC-83D4-EE1D-991D-D21387EFEF98}"/>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sp>
              <p:nvSpPr>
                <p:cNvPr id="140" name="Oval 139">
                  <a:extLst>
                    <a:ext uri="{FF2B5EF4-FFF2-40B4-BE49-F238E27FC236}">
                      <a16:creationId xmlns:a16="http://schemas.microsoft.com/office/drawing/2014/main" id="{D9F8A13F-44E7-1F4D-5300-E0CBF7D89EF7}"/>
                    </a:ext>
                  </a:extLst>
                </p:cNvPr>
                <p:cNvSpPr/>
                <p:nvPr/>
              </p:nvSpPr>
              <p:spPr>
                <a:xfrm>
                  <a:off x="11383834" y="6218126"/>
                  <a:ext cx="407365"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141" name="Oval 140">
                  <a:extLst>
                    <a:ext uri="{FF2B5EF4-FFF2-40B4-BE49-F238E27FC236}">
                      <a16:creationId xmlns:a16="http://schemas.microsoft.com/office/drawing/2014/main" id="{E22EF8F6-86A9-1953-9E28-7AED1F1DF0DA}"/>
                    </a:ext>
                  </a:extLst>
                </p:cNvPr>
                <p:cNvSpPr/>
                <p:nvPr/>
              </p:nvSpPr>
              <p:spPr>
                <a:xfrm>
                  <a:off x="15058047" y="5439595"/>
                  <a:ext cx="370399"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ea typeface="Calibri" panose="020F0502020204030204" pitchFamily="34" charset="0"/>
                    <a:cs typeface="Calibri" panose="020F0502020204030204" pitchFamily="34" charset="0"/>
                  </a:endParaRPr>
                </a:p>
              </p:txBody>
            </p:sp>
          </p:grpSp>
          <p:sp>
            <p:nvSpPr>
              <p:cNvPr id="119" name="TextBox 118">
                <a:extLst>
                  <a:ext uri="{FF2B5EF4-FFF2-40B4-BE49-F238E27FC236}">
                    <a16:creationId xmlns:a16="http://schemas.microsoft.com/office/drawing/2014/main" id="{F1A147BE-3680-C85E-45F6-5E016AE29B47}"/>
                  </a:ext>
                </a:extLst>
              </p:cNvPr>
              <p:cNvSpPr txBox="1"/>
              <p:nvPr/>
            </p:nvSpPr>
            <p:spPr>
              <a:xfrm>
                <a:off x="1314289" y="4478758"/>
                <a:ext cx="625936" cy="308588"/>
              </a:xfrm>
              <a:prstGeom prst="rect">
                <a:avLst/>
              </a:prstGeom>
              <a:noFill/>
            </p:spPr>
            <p:txBody>
              <a:bodyPr wrap="square">
                <a:spAutoFit/>
              </a:bodyPr>
              <a:lstStyle/>
              <a:p>
                <a:r>
                  <a:rPr lang="en-US" sz="1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pPE</a:t>
                </a:r>
                <a:endParaRPr lang="en-US" sz="1600" dirty="0"/>
              </a:p>
            </p:txBody>
          </p:sp>
          <p:sp>
            <p:nvSpPr>
              <p:cNvPr id="120" name="TextBox 119">
                <a:extLst>
                  <a:ext uri="{FF2B5EF4-FFF2-40B4-BE49-F238E27FC236}">
                    <a16:creationId xmlns:a16="http://schemas.microsoft.com/office/drawing/2014/main" id="{6501E8B8-C8F9-7BE5-E17C-E6A0A46F08B5}"/>
                  </a:ext>
                </a:extLst>
              </p:cNvPr>
              <p:cNvSpPr txBox="1"/>
              <p:nvPr/>
            </p:nvSpPr>
            <p:spPr>
              <a:xfrm>
                <a:off x="3665972" y="4478758"/>
                <a:ext cx="625936" cy="308588"/>
              </a:xfrm>
              <a:prstGeom prst="rect">
                <a:avLst/>
              </a:prstGeom>
              <a:noFill/>
            </p:spPr>
            <p:txBody>
              <a:bodyPr wrap="square">
                <a:spAutoFit/>
              </a:bodyPr>
              <a:lstStyle/>
              <a:p>
                <a:r>
                  <a:rPr lang="en-US" sz="1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nPE</a:t>
                </a:r>
                <a:endParaRPr lang="en-US" sz="1600" dirty="0"/>
              </a:p>
            </p:txBody>
          </p:sp>
        </p:grpSp>
        <p:sp>
          <p:nvSpPr>
            <p:cNvPr id="148" name="TextBox 147">
              <a:extLst>
                <a:ext uri="{FF2B5EF4-FFF2-40B4-BE49-F238E27FC236}">
                  <a16:creationId xmlns:a16="http://schemas.microsoft.com/office/drawing/2014/main" id="{23B9F3F1-CF7C-C871-9B96-7232A741B122}"/>
                </a:ext>
              </a:extLst>
            </p:cNvPr>
            <p:cNvSpPr txBox="1"/>
            <p:nvPr/>
          </p:nvSpPr>
          <p:spPr>
            <a:xfrm>
              <a:off x="4164643" y="14236629"/>
              <a:ext cx="312023" cy="417864"/>
            </a:xfrm>
            <a:prstGeom prst="rect">
              <a:avLst/>
            </a:prstGeom>
            <a:noFill/>
          </p:spPr>
          <p:txBody>
            <a:bodyPr wrap="square" rtlCol="0">
              <a:spAutoFit/>
            </a:bodyPr>
            <a:lstStyle/>
            <a:p>
              <a:r>
                <a:rPr lang="en-US" b="1" dirty="0"/>
                <a:t>*</a:t>
              </a:r>
            </a:p>
          </p:txBody>
        </p:sp>
        <p:sp>
          <p:nvSpPr>
            <p:cNvPr id="149" name="TextBox 148">
              <a:extLst>
                <a:ext uri="{FF2B5EF4-FFF2-40B4-BE49-F238E27FC236}">
                  <a16:creationId xmlns:a16="http://schemas.microsoft.com/office/drawing/2014/main" id="{152E9150-2291-A496-DFC7-636CF0D2DEA1}"/>
                </a:ext>
              </a:extLst>
            </p:cNvPr>
            <p:cNvSpPr txBox="1"/>
            <p:nvPr/>
          </p:nvSpPr>
          <p:spPr>
            <a:xfrm>
              <a:off x="3331904" y="14331969"/>
              <a:ext cx="312023" cy="417864"/>
            </a:xfrm>
            <a:prstGeom prst="rect">
              <a:avLst/>
            </a:prstGeom>
            <a:noFill/>
          </p:spPr>
          <p:txBody>
            <a:bodyPr wrap="square" rtlCol="0">
              <a:spAutoFit/>
            </a:bodyPr>
            <a:lstStyle/>
            <a:p>
              <a:r>
                <a:rPr lang="en-US" b="1" dirty="0"/>
                <a:t>*</a:t>
              </a:r>
            </a:p>
          </p:txBody>
        </p:sp>
        <p:sp>
          <p:nvSpPr>
            <p:cNvPr id="150" name="TextBox 149">
              <a:extLst>
                <a:ext uri="{FF2B5EF4-FFF2-40B4-BE49-F238E27FC236}">
                  <a16:creationId xmlns:a16="http://schemas.microsoft.com/office/drawing/2014/main" id="{80E2DC32-6038-708F-845B-57E1149BD5AB}"/>
                </a:ext>
              </a:extLst>
            </p:cNvPr>
            <p:cNvSpPr txBox="1"/>
            <p:nvPr/>
          </p:nvSpPr>
          <p:spPr>
            <a:xfrm>
              <a:off x="2284104" y="14621350"/>
              <a:ext cx="312023" cy="417864"/>
            </a:xfrm>
            <a:prstGeom prst="rect">
              <a:avLst/>
            </a:prstGeom>
            <a:noFill/>
          </p:spPr>
          <p:txBody>
            <a:bodyPr wrap="square" rtlCol="0">
              <a:spAutoFit/>
            </a:bodyPr>
            <a:lstStyle/>
            <a:p>
              <a:r>
                <a:rPr lang="en-US" b="1" dirty="0"/>
                <a:t>*</a:t>
              </a:r>
            </a:p>
          </p:txBody>
        </p:sp>
        <p:sp>
          <p:nvSpPr>
            <p:cNvPr id="151" name="TextBox 150">
              <a:extLst>
                <a:ext uri="{FF2B5EF4-FFF2-40B4-BE49-F238E27FC236}">
                  <a16:creationId xmlns:a16="http://schemas.microsoft.com/office/drawing/2014/main" id="{BA93CF0E-D0C1-0A27-848C-B09C6FBA1A27}"/>
                </a:ext>
              </a:extLst>
            </p:cNvPr>
            <p:cNvSpPr txBox="1"/>
            <p:nvPr/>
          </p:nvSpPr>
          <p:spPr>
            <a:xfrm>
              <a:off x="1352370" y="15202059"/>
              <a:ext cx="312023" cy="417864"/>
            </a:xfrm>
            <a:prstGeom prst="rect">
              <a:avLst/>
            </a:prstGeom>
            <a:noFill/>
          </p:spPr>
          <p:txBody>
            <a:bodyPr wrap="square" rtlCol="0">
              <a:spAutoFit/>
            </a:bodyPr>
            <a:lstStyle/>
            <a:p>
              <a:r>
                <a:rPr lang="en-US" b="1" dirty="0"/>
                <a:t>*</a:t>
              </a:r>
            </a:p>
          </p:txBody>
        </p:sp>
        <p:sp>
          <p:nvSpPr>
            <p:cNvPr id="152" name="TextBox 151">
              <a:extLst>
                <a:ext uri="{FF2B5EF4-FFF2-40B4-BE49-F238E27FC236}">
                  <a16:creationId xmlns:a16="http://schemas.microsoft.com/office/drawing/2014/main" id="{559739B5-2EE0-0FF2-EBC0-D57618F5C33A}"/>
                </a:ext>
              </a:extLst>
            </p:cNvPr>
            <p:cNvSpPr txBox="1"/>
            <p:nvPr/>
          </p:nvSpPr>
          <p:spPr>
            <a:xfrm>
              <a:off x="2227766" y="15267064"/>
              <a:ext cx="312023" cy="417864"/>
            </a:xfrm>
            <a:prstGeom prst="rect">
              <a:avLst/>
            </a:prstGeom>
            <a:noFill/>
          </p:spPr>
          <p:txBody>
            <a:bodyPr wrap="square" rtlCol="0">
              <a:spAutoFit/>
            </a:bodyPr>
            <a:lstStyle/>
            <a:p>
              <a:r>
                <a:rPr lang="en-US" b="1" dirty="0"/>
                <a:t>*</a:t>
              </a:r>
            </a:p>
          </p:txBody>
        </p:sp>
        <p:sp>
          <p:nvSpPr>
            <p:cNvPr id="153" name="TextBox 152">
              <a:extLst>
                <a:ext uri="{FF2B5EF4-FFF2-40B4-BE49-F238E27FC236}">
                  <a16:creationId xmlns:a16="http://schemas.microsoft.com/office/drawing/2014/main" id="{CE0C382A-B3E4-17F2-3083-64E8265D458B}"/>
                </a:ext>
              </a:extLst>
            </p:cNvPr>
            <p:cNvSpPr txBox="1"/>
            <p:nvPr/>
          </p:nvSpPr>
          <p:spPr>
            <a:xfrm>
              <a:off x="3237506" y="15342587"/>
              <a:ext cx="312023" cy="417864"/>
            </a:xfrm>
            <a:prstGeom prst="rect">
              <a:avLst/>
            </a:prstGeom>
            <a:noFill/>
          </p:spPr>
          <p:txBody>
            <a:bodyPr wrap="square" rtlCol="0">
              <a:spAutoFit/>
            </a:bodyPr>
            <a:lstStyle/>
            <a:p>
              <a:r>
                <a:rPr lang="en-US" b="1" dirty="0"/>
                <a:t>*</a:t>
              </a:r>
            </a:p>
          </p:txBody>
        </p:sp>
        <p:pic>
          <p:nvPicPr>
            <p:cNvPr id="154" name="Picture 153">
              <a:extLst>
                <a:ext uri="{FF2B5EF4-FFF2-40B4-BE49-F238E27FC236}">
                  <a16:creationId xmlns:a16="http://schemas.microsoft.com/office/drawing/2014/main" id="{7D6B8A8A-079A-08A7-363D-17F480C7778A}"/>
                </a:ext>
              </a:extLst>
            </p:cNvPr>
            <p:cNvPicPr>
              <a:picLocks noChangeAspect="1"/>
            </p:cNvPicPr>
            <p:nvPr/>
          </p:nvPicPr>
          <p:blipFill>
            <a:blip r:embed="rId19"/>
            <a:stretch>
              <a:fillRect/>
            </a:stretch>
          </p:blipFill>
          <p:spPr>
            <a:xfrm>
              <a:off x="886702" y="16702731"/>
              <a:ext cx="3943900" cy="733527"/>
            </a:xfrm>
            <a:prstGeom prst="rect">
              <a:avLst/>
            </a:prstGeom>
          </p:spPr>
        </p:pic>
      </p:grpSp>
      <p:sp>
        <p:nvSpPr>
          <p:cNvPr id="156" name="TextBox 155">
            <a:extLst>
              <a:ext uri="{FF2B5EF4-FFF2-40B4-BE49-F238E27FC236}">
                <a16:creationId xmlns:a16="http://schemas.microsoft.com/office/drawing/2014/main" id="{05E99C46-5C71-7DCA-11BF-B32E5C1FCB0F}"/>
              </a:ext>
            </a:extLst>
          </p:cNvPr>
          <p:cNvSpPr txBox="1"/>
          <p:nvPr/>
        </p:nvSpPr>
        <p:spPr>
          <a:xfrm>
            <a:off x="957782" y="12831364"/>
            <a:ext cx="2500555" cy="461665"/>
          </a:xfrm>
          <a:prstGeom prst="rect">
            <a:avLst/>
          </a:prstGeom>
          <a:noFill/>
        </p:spPr>
        <p:txBody>
          <a:bodyPr wrap="square">
            <a:spAutoFit/>
          </a:bodyPr>
          <a:lstStyle/>
          <a:p>
            <a:pPr algn="ctr"/>
            <a:r>
              <a:rPr lang="zh-CN" altLang="en-US" sz="2400" dirty="0">
                <a:latin typeface="STKaiti" panose="02010600040101010101" pitchFamily="2" charset="-122"/>
                <a:ea typeface="STKaiti" panose="02010600040101010101" pitchFamily="2" charset="-122"/>
                <a:cs typeface="Calibri" panose="020F0502020204030204" pitchFamily="34" charset="0"/>
              </a:rPr>
              <a:t>局部三因子学习</a:t>
            </a:r>
          </a:p>
        </p:txBody>
      </p:sp>
      <p:sp>
        <p:nvSpPr>
          <p:cNvPr id="160" name="Rectangle 159">
            <a:extLst>
              <a:ext uri="{FF2B5EF4-FFF2-40B4-BE49-F238E27FC236}">
                <a16:creationId xmlns:a16="http://schemas.microsoft.com/office/drawing/2014/main" id="{318984BB-C132-6BC3-2D9C-FCD042C29F9D}"/>
              </a:ext>
            </a:extLst>
          </p:cNvPr>
          <p:cNvSpPr/>
          <p:nvPr/>
        </p:nvSpPr>
        <p:spPr>
          <a:xfrm>
            <a:off x="4496182" y="13644491"/>
            <a:ext cx="3152361" cy="2007776"/>
          </a:xfrm>
          <a:prstGeom prst="rect">
            <a:avLst/>
          </a:prstGeom>
          <a:solidFill>
            <a:schemeClr val="accent4">
              <a:lumMod val="20000"/>
              <a:lumOff val="80000"/>
              <a:alpha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21AA3DB8-72B7-511F-E733-4B9FF3AE4424}"/>
              </a:ext>
            </a:extLst>
          </p:cNvPr>
          <p:cNvSpPr/>
          <p:nvPr/>
        </p:nvSpPr>
        <p:spPr>
          <a:xfrm>
            <a:off x="4564329" y="13731204"/>
            <a:ext cx="2895237" cy="1412511"/>
          </a:xfrm>
          <a:prstGeom prst="rect">
            <a:avLst/>
          </a:prstGeom>
          <a:solidFill>
            <a:schemeClr val="accent4">
              <a:lumMod val="40000"/>
              <a:lumOff val="60000"/>
              <a:alpha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D84F0B0-8A20-60C4-A3A2-5BF0EC3B45BE}"/>
              </a:ext>
            </a:extLst>
          </p:cNvPr>
          <p:cNvSpPr/>
          <p:nvPr/>
        </p:nvSpPr>
        <p:spPr>
          <a:xfrm>
            <a:off x="4618847" y="13873545"/>
            <a:ext cx="2677445" cy="660570"/>
          </a:xfrm>
          <a:prstGeom prst="rect">
            <a:avLst/>
          </a:prstGeom>
          <a:solidFill>
            <a:schemeClr val="accent4">
              <a:lumMod val="60000"/>
              <a:lumOff val="40000"/>
              <a:alpha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TextBox 165">
            <a:extLst>
              <a:ext uri="{FF2B5EF4-FFF2-40B4-BE49-F238E27FC236}">
                <a16:creationId xmlns:a16="http://schemas.microsoft.com/office/drawing/2014/main" id="{206AA6C3-64F2-AA87-567B-7C3920D80E77}"/>
              </a:ext>
            </a:extLst>
          </p:cNvPr>
          <p:cNvSpPr txBox="1"/>
          <p:nvPr/>
        </p:nvSpPr>
        <p:spPr>
          <a:xfrm>
            <a:off x="5210389" y="12882422"/>
            <a:ext cx="1989304" cy="461665"/>
          </a:xfrm>
          <a:prstGeom prst="rect">
            <a:avLst/>
          </a:prstGeom>
          <a:noFill/>
        </p:spPr>
        <p:txBody>
          <a:bodyPr wrap="square" rtlCol="0">
            <a:spAutoFit/>
          </a:bodyPr>
          <a:lstStyle/>
          <a:p>
            <a:r>
              <a:rPr lang="zh-CN" altLang="en-US" sz="2400" dirty="0">
                <a:latin typeface="STKaiti" panose="02010600040101010101" pitchFamily="2" charset="-122"/>
                <a:ea typeface="STKaiti" panose="02010600040101010101" pitchFamily="2" charset="-122"/>
              </a:rPr>
              <a:t>多脑区模拟</a:t>
            </a:r>
            <a:endParaRPr lang="en-US" sz="2400" dirty="0">
              <a:latin typeface="STKaiti" panose="02010600040101010101" pitchFamily="2" charset="-122"/>
              <a:ea typeface="STKaiti" panose="02010600040101010101" pitchFamily="2" charset="-122"/>
            </a:endParaRPr>
          </a:p>
        </p:txBody>
      </p:sp>
      <p:sp>
        <p:nvSpPr>
          <p:cNvPr id="168" name="TextBox 167">
            <a:extLst>
              <a:ext uri="{FF2B5EF4-FFF2-40B4-BE49-F238E27FC236}">
                <a16:creationId xmlns:a16="http://schemas.microsoft.com/office/drawing/2014/main" id="{B8428D14-6169-232C-3ECA-13EECBD2BD87}"/>
              </a:ext>
            </a:extLst>
          </p:cNvPr>
          <p:cNvSpPr txBox="1"/>
          <p:nvPr/>
        </p:nvSpPr>
        <p:spPr>
          <a:xfrm>
            <a:off x="5210389" y="13906626"/>
            <a:ext cx="1399060" cy="369332"/>
          </a:xfrm>
          <a:prstGeom prst="rect">
            <a:avLst/>
          </a:prstGeom>
          <a:noFill/>
        </p:spPr>
        <p:txBody>
          <a:bodyPr wrap="square" rtlCol="0">
            <a:spAutoFit/>
          </a:bodyPr>
          <a:lstStyle/>
          <a:p>
            <a:pPr algn="ctr"/>
            <a:r>
              <a:rPr lang="zh-CN" altLang="en-US" dirty="0">
                <a:latin typeface="STKaiti" panose="02010600040101010101" pitchFamily="2" charset="-122"/>
                <a:ea typeface="STKaiti" panose="02010600040101010101" pitchFamily="2" charset="-122"/>
              </a:rPr>
              <a:t>感觉皮层</a:t>
            </a:r>
            <a:endParaRPr lang="en-US" dirty="0">
              <a:latin typeface="STKaiti" panose="02010600040101010101" pitchFamily="2" charset="-122"/>
              <a:ea typeface="STKaiti" panose="02010600040101010101" pitchFamily="2" charset="-122"/>
            </a:endParaRPr>
          </a:p>
        </p:txBody>
      </p:sp>
      <p:sp>
        <p:nvSpPr>
          <p:cNvPr id="170" name="TextBox 169">
            <a:extLst>
              <a:ext uri="{FF2B5EF4-FFF2-40B4-BE49-F238E27FC236}">
                <a16:creationId xmlns:a16="http://schemas.microsoft.com/office/drawing/2014/main" id="{A8F91C3C-F460-0B9F-1331-654E36BFA750}"/>
              </a:ext>
            </a:extLst>
          </p:cNvPr>
          <p:cNvSpPr txBox="1"/>
          <p:nvPr/>
        </p:nvSpPr>
        <p:spPr>
          <a:xfrm>
            <a:off x="4931992" y="14653976"/>
            <a:ext cx="1929214" cy="369332"/>
          </a:xfrm>
          <a:prstGeom prst="rect">
            <a:avLst/>
          </a:prstGeom>
          <a:noFill/>
        </p:spPr>
        <p:txBody>
          <a:bodyPr wrap="square" rtlCol="0">
            <a:spAutoFit/>
          </a:bodyPr>
          <a:lstStyle/>
          <a:p>
            <a:pPr algn="ctr"/>
            <a:r>
              <a:rPr lang="zh-CN" altLang="en-US" dirty="0">
                <a:latin typeface="STKaiti" panose="02010600040101010101" pitchFamily="2" charset="-122"/>
                <a:ea typeface="STKaiti" panose="02010600040101010101" pitchFamily="2" charset="-122"/>
              </a:rPr>
              <a:t>前额叶皮层</a:t>
            </a:r>
            <a:endParaRPr lang="en-US" dirty="0">
              <a:latin typeface="STKaiti" panose="02010600040101010101" pitchFamily="2" charset="-122"/>
              <a:ea typeface="STKaiti" panose="02010600040101010101" pitchFamily="2" charset="-122"/>
            </a:endParaRPr>
          </a:p>
        </p:txBody>
      </p:sp>
      <p:sp>
        <p:nvSpPr>
          <p:cNvPr id="172" name="TextBox 171">
            <a:extLst>
              <a:ext uri="{FF2B5EF4-FFF2-40B4-BE49-F238E27FC236}">
                <a16:creationId xmlns:a16="http://schemas.microsoft.com/office/drawing/2014/main" id="{5B18C891-C9A2-240D-BAD3-0F9F2C5CADE0}"/>
              </a:ext>
            </a:extLst>
          </p:cNvPr>
          <p:cNvSpPr txBox="1"/>
          <p:nvPr/>
        </p:nvSpPr>
        <p:spPr>
          <a:xfrm>
            <a:off x="5482929" y="15221963"/>
            <a:ext cx="853980" cy="266051"/>
          </a:xfrm>
          <a:prstGeom prst="rect">
            <a:avLst/>
          </a:prstGeom>
          <a:noFill/>
        </p:spPr>
        <p:txBody>
          <a:bodyPr wrap="square" rtlCol="0">
            <a:spAutoFit/>
          </a:bodyPr>
          <a:lstStyle/>
          <a:p>
            <a:pPr algn="ctr"/>
            <a:r>
              <a:rPr lang="zh-CN" altLang="en-US" dirty="0">
                <a:latin typeface="STKaiti" panose="02010600040101010101" pitchFamily="2" charset="-122"/>
                <a:ea typeface="STKaiti" panose="02010600040101010101" pitchFamily="2" charset="-122"/>
              </a:rPr>
              <a:t>全脑</a:t>
            </a:r>
            <a:endParaRPr lang="en-US" dirty="0">
              <a:latin typeface="STKaiti" panose="02010600040101010101" pitchFamily="2" charset="-122"/>
              <a:ea typeface="STKaiti" panose="02010600040101010101" pitchFamily="2" charset="-122"/>
            </a:endParaRPr>
          </a:p>
        </p:txBody>
      </p:sp>
      <p:sp>
        <p:nvSpPr>
          <p:cNvPr id="174" name="TextBox 173">
            <a:extLst>
              <a:ext uri="{FF2B5EF4-FFF2-40B4-BE49-F238E27FC236}">
                <a16:creationId xmlns:a16="http://schemas.microsoft.com/office/drawing/2014/main" id="{1047852C-8FB5-37CA-93F0-4F51C429C91B}"/>
              </a:ext>
            </a:extLst>
          </p:cNvPr>
          <p:cNvSpPr txBox="1"/>
          <p:nvPr/>
        </p:nvSpPr>
        <p:spPr>
          <a:xfrm>
            <a:off x="4962021" y="14170611"/>
            <a:ext cx="1899185" cy="276999"/>
          </a:xfrm>
          <a:prstGeom prst="rect">
            <a:avLst/>
          </a:prstGeom>
          <a:noFill/>
        </p:spPr>
        <p:txBody>
          <a:bodyPr wrap="square" rtlCol="0">
            <a:spAutoFit/>
          </a:bodyPr>
          <a:lstStyle/>
          <a:p>
            <a:pPr algn="ctr"/>
            <a:r>
              <a:rPr lang="en-US" altLang="zh-CN" sz="1200" dirty="0">
                <a:latin typeface="STKaiti" panose="02010600040101010101" pitchFamily="2" charset="-122"/>
                <a:ea typeface="STKaiti" panose="02010600040101010101" pitchFamily="2" charset="-122"/>
              </a:rPr>
              <a:t>Meng and Wang, NC, 2026</a:t>
            </a:r>
            <a:endParaRPr lang="en-US" sz="1200" dirty="0">
              <a:latin typeface="STKaiti" panose="02010600040101010101" pitchFamily="2" charset="-122"/>
              <a:ea typeface="STKaiti" panose="02010600040101010101" pitchFamily="2" charset="-122"/>
            </a:endParaRPr>
          </a:p>
        </p:txBody>
      </p:sp>
      <p:pic>
        <p:nvPicPr>
          <p:cNvPr id="180" name="Picture 179">
            <a:extLst>
              <a:ext uri="{FF2B5EF4-FFF2-40B4-BE49-F238E27FC236}">
                <a16:creationId xmlns:a16="http://schemas.microsoft.com/office/drawing/2014/main" id="{6B89F242-B163-28BD-A090-88B245217533}"/>
              </a:ext>
            </a:extLst>
          </p:cNvPr>
          <p:cNvPicPr>
            <a:picLocks noChangeAspect="1"/>
          </p:cNvPicPr>
          <p:nvPr/>
        </p:nvPicPr>
        <p:blipFill>
          <a:blip r:embed="rId20"/>
          <a:stretch>
            <a:fillRect/>
          </a:stretch>
        </p:blipFill>
        <p:spPr>
          <a:xfrm>
            <a:off x="4794962" y="15815266"/>
            <a:ext cx="890092" cy="922816"/>
          </a:xfrm>
          <a:prstGeom prst="rect">
            <a:avLst/>
          </a:prstGeom>
        </p:spPr>
      </p:pic>
      <p:pic>
        <p:nvPicPr>
          <p:cNvPr id="182" name="Picture 181">
            <a:extLst>
              <a:ext uri="{FF2B5EF4-FFF2-40B4-BE49-F238E27FC236}">
                <a16:creationId xmlns:a16="http://schemas.microsoft.com/office/drawing/2014/main" id="{8FCD43C7-D5BC-E475-9935-14A816055100}"/>
              </a:ext>
            </a:extLst>
          </p:cNvPr>
          <p:cNvPicPr>
            <a:picLocks noChangeAspect="1"/>
          </p:cNvPicPr>
          <p:nvPr/>
        </p:nvPicPr>
        <p:blipFill>
          <a:blip r:embed="rId21"/>
          <a:srcRect r="16222"/>
          <a:stretch>
            <a:fillRect/>
          </a:stretch>
        </p:blipFill>
        <p:spPr>
          <a:xfrm>
            <a:off x="6417574" y="15818505"/>
            <a:ext cx="921159" cy="909727"/>
          </a:xfrm>
          <a:prstGeom prst="rect">
            <a:avLst/>
          </a:prstGeom>
        </p:spPr>
      </p:pic>
      <p:cxnSp>
        <p:nvCxnSpPr>
          <p:cNvPr id="2" name="Straight Arrow Connector 1">
            <a:extLst>
              <a:ext uri="{FF2B5EF4-FFF2-40B4-BE49-F238E27FC236}">
                <a16:creationId xmlns:a16="http://schemas.microsoft.com/office/drawing/2014/main" id="{75E6109C-CAAF-7E44-6401-B28D8E4E545C}"/>
              </a:ext>
            </a:extLst>
          </p:cNvPr>
          <p:cNvCxnSpPr>
            <a:cxnSpLocks/>
          </p:cNvCxnSpPr>
          <p:nvPr/>
        </p:nvCxnSpPr>
        <p:spPr>
          <a:xfrm>
            <a:off x="3837265" y="15157198"/>
            <a:ext cx="455955"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8c7fdf6-3032-4aba-871f-18b840b560b5"/>
  <p:tag name="COMMONDATA" val="eyJoZGlkIjoiZWJkOGUwOGQ5ZDA4OTc4OTY4YTcxNWU1MTM5Yjk0ZWI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TotalTime>
  <Words>758</Words>
  <Application>Microsoft Office PowerPoint</Application>
  <PresentationFormat>Custom</PresentationFormat>
  <Paragraphs>42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等线</vt:lpstr>
      <vt:lpstr>STKaiti</vt:lpstr>
      <vt:lpstr>Arial</vt:lpstr>
      <vt:lpstr>Calibri</vt:lpstr>
      <vt:lpstr>Calibri Light</vt:lpstr>
      <vt:lpstr>Office 主题​​</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sayhello03@outlook.com</dc:creator>
  <cp:lastModifiedBy>Hongyu Meng</cp:lastModifiedBy>
  <cp:revision>46</cp:revision>
  <dcterms:created xsi:type="dcterms:W3CDTF">2022-06-14T12:02:00Z</dcterms:created>
  <dcterms:modified xsi:type="dcterms:W3CDTF">2026-08-25T03:49:08Z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A24217EF1BF94CB9A55660ECED350B78</vt:lpwstr>
  </property>
  <property fmtid="{D5CDD505-2E9C-101B-9397-08002B2CF9AE}" pid="3" name="KSOProductBuildVer">
    <vt:lpwstr>2052-12.1.0.18608</vt:lpwstr>
  </property>
</Properties>
</file>